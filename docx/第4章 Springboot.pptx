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74" r:id="rId4"/>
    <p:sldMasterId id="2147483688" r:id="rId5"/>
    <p:sldMasterId id="2147483702" r:id="rId6"/>
  </p:sldMasterIdLst>
  <p:notesMasterIdLst>
    <p:notesMasterId r:id="rId18"/>
  </p:notesMasterIdLst>
  <p:handoutMasterIdLst>
    <p:handoutMasterId r:id="rId40"/>
  </p:handoutMasterIdLst>
  <p:sldIdLst>
    <p:sldId id="297" r:id="rId7"/>
    <p:sldId id="1230" r:id="rId8"/>
    <p:sldId id="1194" r:id="rId9"/>
    <p:sldId id="1048" r:id="rId10"/>
    <p:sldId id="1049" r:id="rId11"/>
    <p:sldId id="1177" r:id="rId12"/>
    <p:sldId id="1178" r:id="rId13"/>
    <p:sldId id="1179" r:id="rId14"/>
    <p:sldId id="1209" r:id="rId15"/>
    <p:sldId id="1181" r:id="rId16"/>
    <p:sldId id="1182" r:id="rId17"/>
    <p:sldId id="1183" r:id="rId19"/>
    <p:sldId id="1267" r:id="rId20"/>
    <p:sldId id="1184" r:id="rId21"/>
    <p:sldId id="1210" r:id="rId22"/>
    <p:sldId id="1306" r:id="rId23"/>
    <p:sldId id="1185" r:id="rId24"/>
    <p:sldId id="1285" r:id="rId25"/>
    <p:sldId id="1286" r:id="rId26"/>
    <p:sldId id="1287" r:id="rId27"/>
    <p:sldId id="1225" r:id="rId28"/>
    <p:sldId id="1322" r:id="rId29"/>
    <p:sldId id="1288" r:id="rId30"/>
    <p:sldId id="1297" r:id="rId31"/>
    <p:sldId id="1298" r:id="rId32"/>
    <p:sldId id="1294" r:id="rId33"/>
    <p:sldId id="1299" r:id="rId34"/>
    <p:sldId id="1300" r:id="rId35"/>
    <p:sldId id="1292" r:id="rId36"/>
    <p:sldId id="1301" r:id="rId37"/>
    <p:sldId id="1302" r:id="rId38"/>
    <p:sldId id="445" r:id="rId39"/>
  </p:sldIdLst>
  <p:sldSz cx="9144000" cy="6858000" type="screen4x3"/>
  <p:notesSz cx="6858000" cy="9144000"/>
  <p:custDataLst>
    <p:tags r:id="rId44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4" userDrawn="1">
          <p15:clr>
            <a:srgbClr val="A4A3A4"/>
          </p15:clr>
        </p15:guide>
        <p15:guide id="2" pos="30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009900"/>
    <a:srgbClr val="4D4D4D"/>
    <a:srgbClr val="666633"/>
    <a:srgbClr val="333300"/>
    <a:srgbClr val="CC9900"/>
    <a:srgbClr val="CC0000"/>
    <a:srgbClr val="D600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66" d="100"/>
          <a:sy n="66" d="100"/>
        </p:scale>
        <p:origin x="-1506" y="-102"/>
      </p:cViewPr>
      <p:guideLst>
        <p:guide orient="horz" pos="2224"/>
        <p:guide pos="30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4" Type="http://schemas.openxmlformats.org/officeDocument/2006/relationships/tags" Target="tags/tag9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80" name="Rectangle 4"/>
          <p:cNvSpPr>
            <a:spLocks noGrp="1" noRo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3077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37890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39938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39938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41986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45058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41986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41986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41986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45058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41986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41986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45058" name="文本占位符 2"/>
          <p:cNvSpPr/>
          <p:nvPr>
            <p:ph type="body"/>
          </p:nvPr>
        </p:nvSpPr>
        <p:spPr/>
        <p:txBody>
          <a:bodyPr wrap="square" lIns="91440" tIns="45720" rIns="91440" bIns="45720" anchor="ctr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 descr="a1"/>
          <p:cNvSpPr/>
          <p:nvPr/>
        </p:nvSpPr>
        <p:spPr>
          <a:xfrm>
            <a:off x="2286000" y="0"/>
            <a:ext cx="2286000" cy="31242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1" name="Rectangle 3"/>
          <p:cNvSpPr/>
          <p:nvPr/>
        </p:nvSpPr>
        <p:spPr>
          <a:xfrm>
            <a:off x="4643438" y="0"/>
            <a:ext cx="2209800" cy="3124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2" name="Rectangle 4" descr="a2"/>
          <p:cNvSpPr/>
          <p:nvPr/>
        </p:nvSpPr>
        <p:spPr>
          <a:xfrm>
            <a:off x="6934200" y="0"/>
            <a:ext cx="2209800" cy="31242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3" name="Rectangle 5"/>
          <p:cNvSpPr/>
          <p:nvPr/>
        </p:nvSpPr>
        <p:spPr>
          <a:xfrm>
            <a:off x="2286000" y="3124200"/>
            <a:ext cx="6858000" cy="6096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4" name="Rectangle 6"/>
          <p:cNvSpPr/>
          <p:nvPr/>
        </p:nvSpPr>
        <p:spPr>
          <a:xfrm>
            <a:off x="0" y="3124200"/>
            <a:ext cx="9144000" cy="1524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7175" name="Picture 12" descr="top_1"/>
          <p:cNvPicPr>
            <a:picLocks noChangeAspect="1"/>
          </p:cNvPicPr>
          <p:nvPr/>
        </p:nvPicPr>
        <p:blipFill>
          <a:blip r:embed="rId4"/>
          <a:srcRect l="1865" r="76419"/>
          <a:stretch>
            <a:fillRect/>
          </a:stretch>
        </p:blipFill>
        <p:spPr>
          <a:xfrm>
            <a:off x="0" y="333375"/>
            <a:ext cx="2089150" cy="762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6" name="Picture 13" descr="jsjLogo2c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950" y="1341438"/>
            <a:ext cx="2087563" cy="16748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7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438" y="0"/>
            <a:ext cx="2233612" cy="3141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5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286000" y="3048000"/>
            <a:ext cx="6705600" cy="685800"/>
          </a:xfrm>
        </p:spPr>
        <p:txBody>
          <a:bodyPr/>
          <a:lstStyle>
            <a:lvl1pPr algn="ctr">
              <a:defRPr sz="3600"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3886200"/>
            <a:ext cx="6719888" cy="3810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000">
                <a:latin typeface="Verdana" panose="020B0604030504040204" pitchFamily="34" charset="0"/>
              </a:defRPr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24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51613"/>
            <a:ext cx="2133600" cy="169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a typeface="+mj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  <p:sp>
        <p:nvSpPr>
          <p:cNvPr id="25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solidFill>
                  <a:schemeClr val="tx1"/>
                </a:solidFill>
                <a:effectLst/>
              </a:defRPr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i="0" strike="noStrike" kern="1200" cap="none" spc="0" normalizeH="0" baseline="0" noProof="0" smtClean="0">
              <a:latin typeface="Arial" panose="020B0604020202020204" pitchFamily="34" charset="0"/>
              <a:ea typeface="+mj-ea"/>
              <a:cs typeface="+mn-cs"/>
            </a:endParaRPr>
          </a:p>
        </p:txBody>
      </p:sp>
      <p:sp>
        <p:nvSpPr>
          <p:cNvPr id="26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r" fontAlgn="base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2268538" y="6524625"/>
            <a:ext cx="4103688" cy="1444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537325"/>
            <a:ext cx="21336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 fontAlgn="base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base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base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base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base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268538" y="6524625"/>
            <a:ext cx="4103688" cy="1444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010400" y="6537325"/>
            <a:ext cx="21336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 descr="a1"/>
          <p:cNvSpPr/>
          <p:nvPr/>
        </p:nvSpPr>
        <p:spPr>
          <a:xfrm>
            <a:off x="2286000" y="0"/>
            <a:ext cx="2286000" cy="31242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43" name="Rectangle 3"/>
          <p:cNvSpPr/>
          <p:nvPr/>
        </p:nvSpPr>
        <p:spPr>
          <a:xfrm>
            <a:off x="4643438" y="0"/>
            <a:ext cx="2209800" cy="3124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44" name="Rectangle 4" descr="a2"/>
          <p:cNvSpPr/>
          <p:nvPr/>
        </p:nvSpPr>
        <p:spPr>
          <a:xfrm>
            <a:off x="6934200" y="0"/>
            <a:ext cx="2209800" cy="31242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45" name="Rectangle 5"/>
          <p:cNvSpPr/>
          <p:nvPr/>
        </p:nvSpPr>
        <p:spPr>
          <a:xfrm>
            <a:off x="2286000" y="3124200"/>
            <a:ext cx="6858000" cy="6096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46" name="Rectangle 6"/>
          <p:cNvSpPr/>
          <p:nvPr/>
        </p:nvSpPr>
        <p:spPr>
          <a:xfrm>
            <a:off x="0" y="3124200"/>
            <a:ext cx="9144000" cy="1524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0247" name="Picture 12" descr="top_1"/>
          <p:cNvPicPr>
            <a:picLocks noChangeAspect="1"/>
          </p:cNvPicPr>
          <p:nvPr/>
        </p:nvPicPr>
        <p:blipFill>
          <a:blip r:embed="rId4"/>
          <a:srcRect l="1865" r="76419"/>
          <a:stretch>
            <a:fillRect/>
          </a:stretch>
        </p:blipFill>
        <p:spPr>
          <a:xfrm>
            <a:off x="0" y="333375"/>
            <a:ext cx="2089150" cy="762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8" name="Picture 13" descr="jsjLogo2c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950" y="1341438"/>
            <a:ext cx="2087563" cy="16748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9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438" y="0"/>
            <a:ext cx="2233612" cy="3141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5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286000" y="3048000"/>
            <a:ext cx="6705600" cy="685800"/>
          </a:xfrm>
        </p:spPr>
        <p:txBody>
          <a:bodyPr/>
          <a:lstStyle>
            <a:lvl1pPr algn="ctr">
              <a:defRPr sz="3600"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3886200"/>
            <a:ext cx="6719888" cy="3810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000">
                <a:latin typeface="Verdana" panose="020B0604030504040204" pitchFamily="34" charset="0"/>
              </a:defRPr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24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51613"/>
            <a:ext cx="2133600" cy="169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a typeface="+mj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  <p:sp>
        <p:nvSpPr>
          <p:cNvPr id="25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solidFill>
                  <a:schemeClr val="tx1"/>
                </a:solidFill>
                <a:effectLst/>
              </a:defRPr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i="0" strike="noStrike" kern="1200" cap="none" spc="0" normalizeH="0" baseline="0" noProof="0" smtClean="0">
              <a:latin typeface="Arial" panose="020B0604020202020204" pitchFamily="34" charset="0"/>
              <a:ea typeface="+mj-ea"/>
              <a:cs typeface="+mn-cs"/>
            </a:endParaRPr>
          </a:p>
        </p:txBody>
      </p:sp>
      <p:sp>
        <p:nvSpPr>
          <p:cNvPr id="26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r" fontAlgn="base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 descr="a1"/>
          <p:cNvSpPr/>
          <p:nvPr/>
        </p:nvSpPr>
        <p:spPr>
          <a:xfrm>
            <a:off x="2286000" y="0"/>
            <a:ext cx="2286000" cy="31242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267" name="Rectangle 3"/>
          <p:cNvSpPr/>
          <p:nvPr/>
        </p:nvSpPr>
        <p:spPr>
          <a:xfrm>
            <a:off x="4643438" y="0"/>
            <a:ext cx="2209800" cy="3124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268" name="Rectangle 4" descr="a2"/>
          <p:cNvSpPr/>
          <p:nvPr/>
        </p:nvSpPr>
        <p:spPr>
          <a:xfrm>
            <a:off x="6934200" y="0"/>
            <a:ext cx="2209800" cy="31242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269" name="Rectangle 5"/>
          <p:cNvSpPr/>
          <p:nvPr/>
        </p:nvSpPr>
        <p:spPr>
          <a:xfrm>
            <a:off x="2286000" y="3124200"/>
            <a:ext cx="6858000" cy="6096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270" name="Rectangle 6"/>
          <p:cNvSpPr/>
          <p:nvPr/>
        </p:nvSpPr>
        <p:spPr>
          <a:xfrm>
            <a:off x="0" y="3124200"/>
            <a:ext cx="9144000" cy="1524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1271" name="Picture 12" descr="top_1"/>
          <p:cNvPicPr>
            <a:picLocks noChangeAspect="1"/>
          </p:cNvPicPr>
          <p:nvPr/>
        </p:nvPicPr>
        <p:blipFill>
          <a:blip r:embed="rId4"/>
          <a:srcRect l="1865" r="76419"/>
          <a:stretch>
            <a:fillRect/>
          </a:stretch>
        </p:blipFill>
        <p:spPr>
          <a:xfrm>
            <a:off x="0" y="333375"/>
            <a:ext cx="2089150" cy="762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2" name="Picture 13" descr="jsjLogo2c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950" y="1341438"/>
            <a:ext cx="2087563" cy="16748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73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438" y="0"/>
            <a:ext cx="2233612" cy="3141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5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286000" y="3048000"/>
            <a:ext cx="6705600" cy="685800"/>
          </a:xfrm>
        </p:spPr>
        <p:txBody>
          <a:bodyPr/>
          <a:lstStyle>
            <a:lvl1pPr algn="ctr">
              <a:defRPr sz="3600"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3886200"/>
            <a:ext cx="6719888" cy="3810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000">
                <a:latin typeface="Verdana" panose="020B0604030504040204" pitchFamily="34" charset="0"/>
              </a:defRPr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24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51613"/>
            <a:ext cx="2133600" cy="169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a typeface="+mj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  <p:sp>
        <p:nvSpPr>
          <p:cNvPr id="25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solidFill>
                  <a:schemeClr val="tx1"/>
                </a:solidFill>
                <a:effectLst/>
              </a:defRPr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i="0" strike="noStrike" kern="1200" cap="none" spc="0" normalizeH="0" baseline="0" noProof="0" smtClean="0">
              <a:latin typeface="Arial" panose="020B0604020202020204" pitchFamily="34" charset="0"/>
              <a:ea typeface="+mj-ea"/>
              <a:cs typeface="+mn-cs"/>
            </a:endParaRPr>
          </a:p>
        </p:txBody>
      </p:sp>
      <p:sp>
        <p:nvSpPr>
          <p:cNvPr id="26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r" fontAlgn="base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2268538" y="6524625"/>
            <a:ext cx="4103688" cy="1444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537325"/>
            <a:ext cx="21336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 fontAlgn="base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base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base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base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base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268538" y="6524625"/>
            <a:ext cx="4103688" cy="1444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010400" y="6537325"/>
            <a:ext cx="21336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 descr="a1"/>
          <p:cNvSpPr/>
          <p:nvPr/>
        </p:nvSpPr>
        <p:spPr>
          <a:xfrm>
            <a:off x="2286000" y="0"/>
            <a:ext cx="2286000" cy="31242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339" name="Rectangle 3"/>
          <p:cNvSpPr/>
          <p:nvPr/>
        </p:nvSpPr>
        <p:spPr>
          <a:xfrm>
            <a:off x="4643438" y="0"/>
            <a:ext cx="2209800" cy="3124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340" name="Rectangle 4" descr="a2"/>
          <p:cNvSpPr/>
          <p:nvPr/>
        </p:nvSpPr>
        <p:spPr>
          <a:xfrm>
            <a:off x="6934200" y="0"/>
            <a:ext cx="2209800" cy="31242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341" name="Rectangle 5"/>
          <p:cNvSpPr/>
          <p:nvPr/>
        </p:nvSpPr>
        <p:spPr>
          <a:xfrm>
            <a:off x="2286000" y="3124200"/>
            <a:ext cx="6858000" cy="6096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4342" name="Rectangle 6"/>
          <p:cNvSpPr/>
          <p:nvPr/>
        </p:nvSpPr>
        <p:spPr>
          <a:xfrm>
            <a:off x="0" y="3124200"/>
            <a:ext cx="9144000" cy="1524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4343" name="Picture 12" descr="top_1"/>
          <p:cNvPicPr>
            <a:picLocks noChangeAspect="1"/>
          </p:cNvPicPr>
          <p:nvPr/>
        </p:nvPicPr>
        <p:blipFill>
          <a:blip r:embed="rId4"/>
          <a:srcRect l="1865" r="76419"/>
          <a:stretch>
            <a:fillRect/>
          </a:stretch>
        </p:blipFill>
        <p:spPr>
          <a:xfrm>
            <a:off x="0" y="333375"/>
            <a:ext cx="2089150" cy="762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4" name="Picture 13" descr="jsjLogo2c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950" y="1341438"/>
            <a:ext cx="2087563" cy="16748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434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438" y="0"/>
            <a:ext cx="2233612" cy="3141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5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286000" y="3048000"/>
            <a:ext cx="6705600" cy="685800"/>
          </a:xfrm>
        </p:spPr>
        <p:txBody>
          <a:bodyPr/>
          <a:lstStyle>
            <a:lvl1pPr algn="ctr">
              <a:defRPr sz="3600"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3886200"/>
            <a:ext cx="6719888" cy="3810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000">
                <a:latin typeface="Verdana" panose="020B0604030504040204" pitchFamily="34" charset="0"/>
              </a:defRPr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24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51613"/>
            <a:ext cx="2133600" cy="169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a typeface="+mj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  <p:sp>
        <p:nvSpPr>
          <p:cNvPr id="25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solidFill>
                  <a:schemeClr val="tx1"/>
                </a:solidFill>
                <a:effectLst/>
              </a:defRPr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i="0" strike="noStrike" kern="1200" cap="none" spc="0" normalizeH="0" baseline="0" noProof="0" smtClean="0">
              <a:latin typeface="Arial" panose="020B0604020202020204" pitchFamily="34" charset="0"/>
              <a:ea typeface="+mj-ea"/>
              <a:cs typeface="+mn-cs"/>
            </a:endParaRPr>
          </a:p>
        </p:txBody>
      </p:sp>
      <p:sp>
        <p:nvSpPr>
          <p:cNvPr id="26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r" fontAlgn="base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2268538" y="6524625"/>
            <a:ext cx="4103688" cy="1444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537325"/>
            <a:ext cx="21336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 fontAlgn="base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base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base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base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base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268538" y="6524625"/>
            <a:ext cx="4103688" cy="1444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010400" y="6537325"/>
            <a:ext cx="21336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 descr="a1"/>
          <p:cNvSpPr/>
          <p:nvPr/>
        </p:nvSpPr>
        <p:spPr>
          <a:xfrm>
            <a:off x="2286000" y="0"/>
            <a:ext cx="2286000" cy="31242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1" name="Rectangle 3"/>
          <p:cNvSpPr/>
          <p:nvPr/>
        </p:nvSpPr>
        <p:spPr>
          <a:xfrm>
            <a:off x="4643438" y="0"/>
            <a:ext cx="2209800" cy="3124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2" name="Rectangle 4" descr="a2"/>
          <p:cNvSpPr/>
          <p:nvPr/>
        </p:nvSpPr>
        <p:spPr>
          <a:xfrm>
            <a:off x="6934200" y="0"/>
            <a:ext cx="2209800" cy="31242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3" name="Rectangle 5"/>
          <p:cNvSpPr/>
          <p:nvPr/>
        </p:nvSpPr>
        <p:spPr>
          <a:xfrm>
            <a:off x="2286000" y="3124200"/>
            <a:ext cx="6858000" cy="6096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4" name="Rectangle 6"/>
          <p:cNvSpPr/>
          <p:nvPr/>
        </p:nvSpPr>
        <p:spPr>
          <a:xfrm>
            <a:off x="0" y="3124200"/>
            <a:ext cx="9144000" cy="1524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7175" name="Picture 12" descr="top_1"/>
          <p:cNvPicPr>
            <a:picLocks noChangeAspect="1"/>
          </p:cNvPicPr>
          <p:nvPr/>
        </p:nvPicPr>
        <p:blipFill>
          <a:blip r:embed="rId4"/>
          <a:srcRect l="1865" r="76419"/>
          <a:stretch>
            <a:fillRect/>
          </a:stretch>
        </p:blipFill>
        <p:spPr>
          <a:xfrm>
            <a:off x="0" y="333375"/>
            <a:ext cx="2089150" cy="762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6" name="Picture 13" descr="jsjLogo2c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950" y="1341438"/>
            <a:ext cx="2087563" cy="16748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177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3438" y="0"/>
            <a:ext cx="2233612" cy="3141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5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286000" y="3048000"/>
            <a:ext cx="6705600" cy="685800"/>
          </a:xfrm>
        </p:spPr>
        <p:txBody>
          <a:bodyPr/>
          <a:lstStyle>
            <a:lvl1pPr algn="ctr">
              <a:defRPr sz="3600"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3886200"/>
            <a:ext cx="6719888" cy="3810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000">
                <a:latin typeface="Verdana" panose="020B0604030504040204" pitchFamily="34" charset="0"/>
              </a:defRPr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24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51613"/>
            <a:ext cx="2133600" cy="169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a typeface="+mj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  <p:sp>
        <p:nvSpPr>
          <p:cNvPr id="25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solidFill>
                  <a:schemeClr val="tx1"/>
                </a:solidFill>
                <a:effectLst/>
              </a:defRPr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i="0" strike="noStrike" kern="1200" cap="none" spc="0" normalizeH="0" baseline="0" noProof="0" smtClean="0">
              <a:latin typeface="Arial" panose="020B0604020202020204" pitchFamily="34" charset="0"/>
              <a:ea typeface="+mj-ea"/>
              <a:cs typeface="+mn-cs"/>
            </a:endParaRPr>
          </a:p>
        </p:txBody>
      </p:sp>
      <p:sp>
        <p:nvSpPr>
          <p:cNvPr id="26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algn="r" fontAlgn="base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2268538" y="6524625"/>
            <a:ext cx="4103688" cy="1444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0400" y="6537325"/>
            <a:ext cx="21336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>
              <a:lnSpc>
                <a:spcPct val="150000"/>
              </a:lnSpc>
              <a:defRPr sz="1600"/>
            </a:lvl5pPr>
          </a:lstStyle>
          <a:p>
            <a:pPr lvl="0" fontAlgn="base"/>
            <a:r>
              <a:rPr lang="zh-CN" altLang="en-US" strike="noStrike" noProof="1" dirty="0" smtClean="0"/>
              <a:t>单击此处编辑母版文本样式</a:t>
            </a:r>
            <a:endParaRPr lang="zh-CN" altLang="en-US" strike="noStrike" noProof="1" dirty="0" smtClean="0"/>
          </a:p>
          <a:p>
            <a:pPr lvl="1" fontAlgn="base"/>
            <a:r>
              <a:rPr lang="zh-CN" altLang="en-US" strike="noStrike" noProof="1" dirty="0" smtClean="0"/>
              <a:t>第二级</a:t>
            </a:r>
            <a:endParaRPr lang="zh-CN" altLang="en-US" strike="noStrike" noProof="1" dirty="0" smtClean="0"/>
          </a:p>
          <a:p>
            <a:pPr lvl="2" fontAlgn="base"/>
            <a:r>
              <a:rPr lang="zh-CN" altLang="en-US" strike="noStrike" noProof="1" dirty="0" smtClean="0"/>
              <a:t>第三级</a:t>
            </a:r>
            <a:endParaRPr lang="zh-CN" altLang="en-US" strike="noStrike" noProof="1" dirty="0" smtClean="0"/>
          </a:p>
          <a:p>
            <a:pPr lvl="3" fontAlgn="base"/>
            <a:r>
              <a:rPr lang="zh-CN" altLang="en-US" strike="noStrike" noProof="1" dirty="0" smtClean="0"/>
              <a:t>第四级</a:t>
            </a:r>
            <a:endParaRPr lang="zh-CN" altLang="en-US" strike="noStrike" noProof="1" dirty="0" smtClean="0"/>
          </a:p>
          <a:p>
            <a:pPr lvl="4" fontAlgn="base"/>
            <a:r>
              <a:rPr lang="zh-CN" altLang="en-US" strike="noStrike" noProof="1" dirty="0" smtClean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2268538" y="6524625"/>
            <a:ext cx="4103688" cy="1444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010400" y="6537325"/>
            <a:ext cx="21336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+mn-ea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3.jpeg"/><Relationship Id="rId18" Type="http://schemas.openxmlformats.org/officeDocument/2006/relationships/image" Target="../media/image5.jpeg"/><Relationship Id="rId17" Type="http://schemas.openxmlformats.org/officeDocument/2006/relationships/image" Target="../media/image7.jpeg"/><Relationship Id="rId16" Type="http://schemas.openxmlformats.org/officeDocument/2006/relationships/image" Target="../media/image2.jpeg"/><Relationship Id="rId15" Type="http://schemas.openxmlformats.org/officeDocument/2006/relationships/image" Target="../media/image1.jpeg"/><Relationship Id="rId14" Type="http://schemas.openxmlformats.org/officeDocument/2006/relationships/image" Target="../media/image6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8" Type="http://schemas.openxmlformats.org/officeDocument/2006/relationships/theme" Target="../theme/theme2.xml"/><Relationship Id="rId17" Type="http://schemas.openxmlformats.org/officeDocument/2006/relationships/image" Target="../media/image3.jpeg"/><Relationship Id="rId16" Type="http://schemas.openxmlformats.org/officeDocument/2006/relationships/image" Target="../media/image5.jpeg"/><Relationship Id="rId15" Type="http://schemas.openxmlformats.org/officeDocument/2006/relationships/image" Target="../media/image7.jpeg"/><Relationship Id="rId14" Type="http://schemas.openxmlformats.org/officeDocument/2006/relationships/image" Target="../media/image2.jpeg"/><Relationship Id="rId13" Type="http://schemas.openxmlformats.org/officeDocument/2006/relationships/image" Target="../media/image1.jpeg"/><Relationship Id="rId12" Type="http://schemas.openxmlformats.org/officeDocument/2006/relationships/image" Target="../media/image6.png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0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9" Type="http://schemas.openxmlformats.org/officeDocument/2006/relationships/image" Target="../media/image3.jpeg"/><Relationship Id="rId18" Type="http://schemas.openxmlformats.org/officeDocument/2006/relationships/image" Target="../media/image5.jpeg"/><Relationship Id="rId17" Type="http://schemas.openxmlformats.org/officeDocument/2006/relationships/image" Target="../media/image7.jpeg"/><Relationship Id="rId16" Type="http://schemas.openxmlformats.org/officeDocument/2006/relationships/image" Target="../media/image2.jpeg"/><Relationship Id="rId15" Type="http://schemas.openxmlformats.org/officeDocument/2006/relationships/image" Target="../media/image1.jpeg"/><Relationship Id="rId14" Type="http://schemas.openxmlformats.org/officeDocument/2006/relationships/image" Target="../media/image6.png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0.xml"/><Relationship Id="rId20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9" Type="http://schemas.openxmlformats.org/officeDocument/2006/relationships/image" Target="../media/image3.jpeg"/><Relationship Id="rId18" Type="http://schemas.openxmlformats.org/officeDocument/2006/relationships/image" Target="../media/image5.jpeg"/><Relationship Id="rId17" Type="http://schemas.openxmlformats.org/officeDocument/2006/relationships/image" Target="../media/image7.jpeg"/><Relationship Id="rId16" Type="http://schemas.openxmlformats.org/officeDocument/2006/relationships/image" Target="../media/image2.jpeg"/><Relationship Id="rId15" Type="http://schemas.openxmlformats.org/officeDocument/2006/relationships/image" Target="../media/image1.jpeg"/><Relationship Id="rId14" Type="http://schemas.openxmlformats.org/officeDocument/2006/relationships/image" Target="../media/image6.png"/><Relationship Id="rId13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8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9.xml"/><Relationship Id="rId8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3.xml"/><Relationship Id="rId20" Type="http://schemas.openxmlformats.org/officeDocument/2006/relationships/theme" Target="../theme/theme5.xml"/><Relationship Id="rId2" Type="http://schemas.openxmlformats.org/officeDocument/2006/relationships/slideLayout" Target="../slideLayouts/slideLayout52.xml"/><Relationship Id="rId19" Type="http://schemas.openxmlformats.org/officeDocument/2006/relationships/image" Target="../media/image3.jpeg"/><Relationship Id="rId18" Type="http://schemas.openxmlformats.org/officeDocument/2006/relationships/image" Target="../media/image5.jpeg"/><Relationship Id="rId17" Type="http://schemas.openxmlformats.org/officeDocument/2006/relationships/image" Target="../media/image7.jpeg"/><Relationship Id="rId16" Type="http://schemas.openxmlformats.org/officeDocument/2006/relationships/image" Target="../media/image2.jpeg"/><Relationship Id="rId15" Type="http://schemas.openxmlformats.org/officeDocument/2006/relationships/image" Target="../media/image1.jpeg"/><Relationship Id="rId14" Type="http://schemas.openxmlformats.org/officeDocument/2006/relationships/image" Target="../media/image6.png"/><Relationship Id="rId13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1268413"/>
            <a:ext cx="9144000" cy="5219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 descr="a1"/>
          <p:cNvSpPr/>
          <p:nvPr/>
        </p:nvSpPr>
        <p:spPr>
          <a:xfrm>
            <a:off x="1979613" y="0"/>
            <a:ext cx="1778000" cy="838200"/>
          </a:xfrm>
          <a:prstGeom prst="rect">
            <a:avLst/>
          </a:prstGeom>
          <a:blipFill rotWithShape="1">
            <a:blip r:embed="rId15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28" name="Rectangle 4" descr="a2"/>
          <p:cNvSpPr/>
          <p:nvPr/>
        </p:nvSpPr>
        <p:spPr>
          <a:xfrm>
            <a:off x="6011863" y="0"/>
            <a:ext cx="1708150" cy="838200"/>
          </a:xfrm>
          <a:prstGeom prst="rect">
            <a:avLst/>
          </a:prstGeom>
          <a:blipFill rotWithShape="1">
            <a:blip r:embed="rId16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29" name="Rectangle 5"/>
          <p:cNvSpPr/>
          <p:nvPr/>
        </p:nvSpPr>
        <p:spPr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1030" name="Group 6"/>
          <p:cNvGrpSpPr/>
          <p:nvPr/>
        </p:nvGrpSpPr>
        <p:grpSpPr>
          <a:xfrm>
            <a:off x="0" y="685800"/>
            <a:ext cx="9144000" cy="609600"/>
            <a:chOff x="0" y="0"/>
            <a:chExt cx="5760" cy="384"/>
          </a:xfrm>
        </p:grpSpPr>
        <p:sp>
          <p:nvSpPr>
            <p:cNvPr id="1031" name="Rectangle 7"/>
            <p:cNvSpPr/>
            <p:nvPr userDrawn="1"/>
          </p:nvSpPr>
          <p:spPr>
            <a:xfrm>
              <a:off x="0" y="0"/>
              <a:ext cx="5760" cy="96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1032" name="Rectangle 8"/>
            <p:cNvSpPr/>
            <p:nvPr userDrawn="1"/>
          </p:nvSpPr>
          <p:spPr>
            <a:xfrm>
              <a:off x="362" y="0"/>
              <a:ext cx="5398" cy="384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sp>
        <p:nvSpPr>
          <p:cNvPr id="1033" name="Rectangle 9"/>
          <p:cNvSpPr>
            <a:spLocks noGrp="1"/>
          </p:cNvSpPr>
          <p:nvPr>
            <p:ph type="body"/>
          </p:nvPr>
        </p:nvSpPr>
        <p:spPr>
          <a:xfrm>
            <a:off x="457200" y="1419225"/>
            <a:ext cx="8229600" cy="4879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373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5" name="Rectangle 1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036" name="Picture 12" descr="jsjLogo2c"/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56550" y="0"/>
            <a:ext cx="1114425" cy="7794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Picture 1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24300" y="0"/>
            <a:ext cx="1873250" cy="692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8" name="Picture 14" descr="top_1"/>
          <p:cNvPicPr>
            <a:picLocks noChangeAspect="1"/>
          </p:cNvPicPr>
          <p:nvPr/>
        </p:nvPicPr>
        <p:blipFill>
          <a:blip r:embed="rId19"/>
          <a:srcRect l="1865" r="76419"/>
          <a:stretch>
            <a:fillRect/>
          </a:stretch>
        </p:blipFill>
        <p:spPr>
          <a:xfrm>
            <a:off x="0" y="0"/>
            <a:ext cx="1800225" cy="657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68538" y="6524625"/>
            <a:ext cx="4103688" cy="14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+mj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50" name="Picture 2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1268413"/>
            <a:ext cx="9144000" cy="5219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 descr="a1"/>
          <p:cNvSpPr/>
          <p:nvPr/>
        </p:nvSpPr>
        <p:spPr>
          <a:xfrm>
            <a:off x="1979613" y="0"/>
            <a:ext cx="1778000" cy="838200"/>
          </a:xfrm>
          <a:prstGeom prst="rect">
            <a:avLst/>
          </a:prstGeom>
          <a:blipFill rotWithShape="1">
            <a:blip r:embed="rId13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2" name="Rectangle 4" descr="a2"/>
          <p:cNvSpPr/>
          <p:nvPr/>
        </p:nvSpPr>
        <p:spPr>
          <a:xfrm>
            <a:off x="6011863" y="0"/>
            <a:ext cx="1708150" cy="838200"/>
          </a:xfrm>
          <a:prstGeom prst="rect">
            <a:avLst/>
          </a:prstGeom>
          <a:blipFill rotWithShape="1">
            <a:blip r:embed="rId14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53" name="Rectangle 5"/>
          <p:cNvSpPr/>
          <p:nvPr/>
        </p:nvSpPr>
        <p:spPr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2054" name="Group 6"/>
          <p:cNvGrpSpPr/>
          <p:nvPr/>
        </p:nvGrpSpPr>
        <p:grpSpPr>
          <a:xfrm>
            <a:off x="0" y="685800"/>
            <a:ext cx="9144000" cy="609600"/>
            <a:chOff x="0" y="0"/>
            <a:chExt cx="5760" cy="384"/>
          </a:xfrm>
        </p:grpSpPr>
        <p:sp>
          <p:nvSpPr>
            <p:cNvPr id="2055" name="Rectangle 7"/>
            <p:cNvSpPr/>
            <p:nvPr userDrawn="1"/>
          </p:nvSpPr>
          <p:spPr>
            <a:xfrm>
              <a:off x="0" y="0"/>
              <a:ext cx="5760" cy="96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056" name="Rectangle 8"/>
            <p:cNvSpPr/>
            <p:nvPr userDrawn="1"/>
          </p:nvSpPr>
          <p:spPr>
            <a:xfrm>
              <a:off x="362" y="0"/>
              <a:ext cx="5398" cy="384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sp>
        <p:nvSpPr>
          <p:cNvPr id="2057" name="Rectangle 9"/>
          <p:cNvSpPr>
            <a:spLocks noGrp="1"/>
          </p:cNvSpPr>
          <p:nvPr>
            <p:ph type="body"/>
          </p:nvPr>
        </p:nvSpPr>
        <p:spPr>
          <a:xfrm>
            <a:off x="457200" y="1419225"/>
            <a:ext cx="8229600" cy="4879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373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59" name="Rectangle 1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2060" name="Picture 12" descr="jsjLogo2c"/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56550" y="0"/>
            <a:ext cx="1114425" cy="7794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1" name="Picture 1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24300" y="0"/>
            <a:ext cx="1873250" cy="692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2" name="Picture 14" descr="top_1"/>
          <p:cNvPicPr>
            <a:picLocks noChangeAspect="1"/>
          </p:cNvPicPr>
          <p:nvPr/>
        </p:nvPicPr>
        <p:blipFill>
          <a:blip r:embed="rId17"/>
          <a:srcRect l="1865" r="76419"/>
          <a:stretch>
            <a:fillRect/>
          </a:stretch>
        </p:blipFill>
        <p:spPr>
          <a:xfrm>
            <a:off x="0" y="0"/>
            <a:ext cx="1800225" cy="657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68538" y="6524625"/>
            <a:ext cx="4103688" cy="14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+mj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74" name="Picture 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1268413"/>
            <a:ext cx="9144000" cy="5219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Rectangle 3" descr="a1"/>
          <p:cNvSpPr/>
          <p:nvPr/>
        </p:nvSpPr>
        <p:spPr>
          <a:xfrm>
            <a:off x="1979613" y="0"/>
            <a:ext cx="1778000" cy="838200"/>
          </a:xfrm>
          <a:prstGeom prst="rect">
            <a:avLst/>
          </a:prstGeom>
          <a:blipFill rotWithShape="1">
            <a:blip r:embed="rId15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076" name="Rectangle 4" descr="a2"/>
          <p:cNvSpPr/>
          <p:nvPr/>
        </p:nvSpPr>
        <p:spPr>
          <a:xfrm>
            <a:off x="6011863" y="0"/>
            <a:ext cx="1708150" cy="838200"/>
          </a:xfrm>
          <a:prstGeom prst="rect">
            <a:avLst/>
          </a:prstGeom>
          <a:blipFill rotWithShape="1">
            <a:blip r:embed="rId16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077" name="Rectangle 5"/>
          <p:cNvSpPr/>
          <p:nvPr/>
        </p:nvSpPr>
        <p:spPr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3078" name="Group 6"/>
          <p:cNvGrpSpPr/>
          <p:nvPr/>
        </p:nvGrpSpPr>
        <p:grpSpPr>
          <a:xfrm>
            <a:off x="0" y="685800"/>
            <a:ext cx="9144000" cy="609600"/>
            <a:chOff x="0" y="0"/>
            <a:chExt cx="5760" cy="384"/>
          </a:xfrm>
        </p:grpSpPr>
        <p:sp>
          <p:nvSpPr>
            <p:cNvPr id="3079" name="Rectangle 7"/>
            <p:cNvSpPr/>
            <p:nvPr userDrawn="1"/>
          </p:nvSpPr>
          <p:spPr>
            <a:xfrm>
              <a:off x="0" y="0"/>
              <a:ext cx="5760" cy="96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3080" name="Rectangle 8"/>
            <p:cNvSpPr/>
            <p:nvPr userDrawn="1"/>
          </p:nvSpPr>
          <p:spPr>
            <a:xfrm>
              <a:off x="362" y="0"/>
              <a:ext cx="5398" cy="384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sp>
        <p:nvSpPr>
          <p:cNvPr id="3081" name="Rectangle 9"/>
          <p:cNvSpPr>
            <a:spLocks noGrp="1"/>
          </p:cNvSpPr>
          <p:nvPr>
            <p:ph type="body"/>
          </p:nvPr>
        </p:nvSpPr>
        <p:spPr>
          <a:xfrm>
            <a:off x="457200" y="1419225"/>
            <a:ext cx="8229600" cy="4879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373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083" name="Rectangle 1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3084" name="Picture 12" descr="jsjLogo2c"/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56550" y="0"/>
            <a:ext cx="1114425" cy="7794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5" name="Picture 1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24300" y="0"/>
            <a:ext cx="1873250" cy="692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6" name="Picture 14" descr="top_1"/>
          <p:cNvPicPr>
            <a:picLocks noChangeAspect="1"/>
          </p:cNvPicPr>
          <p:nvPr/>
        </p:nvPicPr>
        <p:blipFill>
          <a:blip r:embed="rId19"/>
          <a:srcRect l="1865" r="76419"/>
          <a:stretch>
            <a:fillRect/>
          </a:stretch>
        </p:blipFill>
        <p:spPr>
          <a:xfrm>
            <a:off x="0" y="0"/>
            <a:ext cx="1800225" cy="657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68538" y="6524625"/>
            <a:ext cx="4103688" cy="14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+mj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098" name="Picture 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1268413"/>
            <a:ext cx="9144000" cy="5219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9" name="Rectangle 3" descr="a1"/>
          <p:cNvSpPr/>
          <p:nvPr/>
        </p:nvSpPr>
        <p:spPr>
          <a:xfrm>
            <a:off x="1979613" y="0"/>
            <a:ext cx="1778000" cy="838200"/>
          </a:xfrm>
          <a:prstGeom prst="rect">
            <a:avLst/>
          </a:prstGeom>
          <a:blipFill rotWithShape="1">
            <a:blip r:embed="rId15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100" name="Rectangle 4" descr="a2"/>
          <p:cNvSpPr/>
          <p:nvPr/>
        </p:nvSpPr>
        <p:spPr>
          <a:xfrm>
            <a:off x="6011863" y="0"/>
            <a:ext cx="1708150" cy="838200"/>
          </a:xfrm>
          <a:prstGeom prst="rect">
            <a:avLst/>
          </a:prstGeom>
          <a:blipFill rotWithShape="1">
            <a:blip r:embed="rId16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101" name="Rectangle 5"/>
          <p:cNvSpPr/>
          <p:nvPr/>
        </p:nvSpPr>
        <p:spPr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4102" name="Group 6"/>
          <p:cNvGrpSpPr/>
          <p:nvPr/>
        </p:nvGrpSpPr>
        <p:grpSpPr>
          <a:xfrm>
            <a:off x="0" y="685800"/>
            <a:ext cx="9144000" cy="609600"/>
            <a:chOff x="0" y="0"/>
            <a:chExt cx="5760" cy="384"/>
          </a:xfrm>
        </p:grpSpPr>
        <p:sp>
          <p:nvSpPr>
            <p:cNvPr id="4103" name="Rectangle 7"/>
            <p:cNvSpPr/>
            <p:nvPr userDrawn="1"/>
          </p:nvSpPr>
          <p:spPr>
            <a:xfrm>
              <a:off x="0" y="0"/>
              <a:ext cx="5760" cy="96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4104" name="Rectangle 8"/>
            <p:cNvSpPr/>
            <p:nvPr userDrawn="1"/>
          </p:nvSpPr>
          <p:spPr>
            <a:xfrm>
              <a:off x="362" y="0"/>
              <a:ext cx="5398" cy="384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sp>
        <p:nvSpPr>
          <p:cNvPr id="4105" name="Rectangle 9"/>
          <p:cNvSpPr>
            <a:spLocks noGrp="1"/>
          </p:cNvSpPr>
          <p:nvPr>
            <p:ph type="body"/>
          </p:nvPr>
        </p:nvSpPr>
        <p:spPr>
          <a:xfrm>
            <a:off x="457200" y="1419225"/>
            <a:ext cx="8229600" cy="4879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373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107" name="Rectangle 1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4108" name="Picture 12" descr="jsjLogo2c"/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56550" y="0"/>
            <a:ext cx="1114425" cy="7794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09" name="Picture 1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24300" y="0"/>
            <a:ext cx="1873250" cy="692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10" name="Picture 14" descr="top_1"/>
          <p:cNvPicPr>
            <a:picLocks noChangeAspect="1"/>
          </p:cNvPicPr>
          <p:nvPr/>
        </p:nvPicPr>
        <p:blipFill>
          <a:blip r:embed="rId19"/>
          <a:srcRect l="1865" r="76419"/>
          <a:stretch>
            <a:fillRect/>
          </a:stretch>
        </p:blipFill>
        <p:spPr>
          <a:xfrm>
            <a:off x="0" y="0"/>
            <a:ext cx="1800225" cy="657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68538" y="6524625"/>
            <a:ext cx="4103688" cy="14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+mj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1268413"/>
            <a:ext cx="9144000" cy="5219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 descr="a1"/>
          <p:cNvSpPr/>
          <p:nvPr/>
        </p:nvSpPr>
        <p:spPr>
          <a:xfrm>
            <a:off x="1979613" y="0"/>
            <a:ext cx="1778000" cy="838200"/>
          </a:xfrm>
          <a:prstGeom prst="rect">
            <a:avLst/>
          </a:prstGeom>
          <a:blipFill rotWithShape="1">
            <a:blip r:embed="rId15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28" name="Rectangle 4" descr="a2"/>
          <p:cNvSpPr/>
          <p:nvPr/>
        </p:nvSpPr>
        <p:spPr>
          <a:xfrm>
            <a:off x="6011863" y="0"/>
            <a:ext cx="1708150" cy="838200"/>
          </a:xfrm>
          <a:prstGeom prst="rect">
            <a:avLst/>
          </a:prstGeom>
          <a:blipFill rotWithShape="1">
            <a:blip r:embed="rId16"/>
            <a:stretch>
              <a:fillRect/>
            </a:stretch>
          </a:blip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029" name="Rectangle 5"/>
          <p:cNvSpPr/>
          <p:nvPr/>
        </p:nvSpPr>
        <p:spPr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pPr lvl="0"/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1030" name="Group 6"/>
          <p:cNvGrpSpPr/>
          <p:nvPr/>
        </p:nvGrpSpPr>
        <p:grpSpPr>
          <a:xfrm>
            <a:off x="0" y="685800"/>
            <a:ext cx="9144000" cy="609600"/>
            <a:chOff x="0" y="0"/>
            <a:chExt cx="5760" cy="384"/>
          </a:xfrm>
        </p:grpSpPr>
        <p:sp>
          <p:nvSpPr>
            <p:cNvPr id="1031" name="Rectangle 7"/>
            <p:cNvSpPr/>
            <p:nvPr userDrawn="1"/>
          </p:nvSpPr>
          <p:spPr>
            <a:xfrm>
              <a:off x="0" y="0"/>
              <a:ext cx="5760" cy="96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1032" name="Rectangle 8"/>
            <p:cNvSpPr/>
            <p:nvPr userDrawn="1"/>
          </p:nvSpPr>
          <p:spPr>
            <a:xfrm>
              <a:off x="362" y="0"/>
              <a:ext cx="5398" cy="384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txBody>
            <a:bodyPr wrap="none" anchor="ctr" anchorCtr="0"/>
            <a:p>
              <a:pPr lvl="0"/>
              <a:endParaRPr lang="zh-CN" altLang="en-US" dirty="0"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sp>
        <p:nvSpPr>
          <p:cNvPr id="1033" name="Rectangle 9"/>
          <p:cNvSpPr>
            <a:spLocks noGrp="1"/>
          </p:cNvSpPr>
          <p:nvPr>
            <p:ph type="body"/>
          </p:nvPr>
        </p:nvSpPr>
        <p:spPr>
          <a:xfrm>
            <a:off x="457200" y="1419225"/>
            <a:ext cx="8229600" cy="4879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3732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p>
            <a:pPr lvl="0" algn="ctr" eaLnBrk="1" fontAlgn="base" hangingPunct="1"/>
            <a:fld id="{9A0DB2DC-4C9A-4742-B13C-FB6460FD3503}" type="slidenum">
              <a:rPr lang="zh-CN" altLang="en-US" sz="1200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ea"/>
              </a:rPr>
            </a:fld>
            <a:endParaRPr lang="zh-CN" altLang="en-US" sz="1200" strike="noStrike" noProof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5" name="Rectangle 1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036" name="Picture 12" descr="jsjLogo2c"/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56550" y="0"/>
            <a:ext cx="1114425" cy="7794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7" name="Picture 1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24300" y="0"/>
            <a:ext cx="1873250" cy="692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8" name="Picture 14" descr="top_1"/>
          <p:cNvPicPr>
            <a:picLocks noChangeAspect="1"/>
          </p:cNvPicPr>
          <p:nvPr/>
        </p:nvPicPr>
        <p:blipFill>
          <a:blip r:embed="rId19"/>
          <a:srcRect l="1865" r="76419"/>
          <a:stretch>
            <a:fillRect/>
          </a:stretch>
        </p:blipFill>
        <p:spPr>
          <a:xfrm>
            <a:off x="0" y="0"/>
            <a:ext cx="1800225" cy="657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68538" y="6524625"/>
            <a:ext cx="4103688" cy="14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+mj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8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.png"/><Relationship Id="rId1" Type="http://schemas.openxmlformats.org/officeDocument/2006/relationships/tags" Target="../tags/tag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2" Type="http://schemas.openxmlformats.org/officeDocument/2006/relationships/image" Target="../media/image15.png"/><Relationship Id="rId1" Type="http://schemas.openxmlformats.org/officeDocument/2006/relationships/tags" Target="../tags/tag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1" Type="http://schemas.openxmlformats.org/officeDocument/2006/relationships/tags" Target="../tags/tag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9.png"/><Relationship Id="rId1" Type="http://schemas.openxmlformats.org/officeDocument/2006/relationships/tags" Target="../tags/tag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2.png"/><Relationship Id="rId1" Type="http://schemas.openxmlformats.org/officeDocument/2006/relationships/tags" Target="../tags/tag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3.png"/><Relationship Id="rId1" Type="http://schemas.openxmlformats.org/officeDocument/2006/relationships/tags" Target="../tags/tag7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8.xml"/><Relationship Id="rId1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2"/>
          <p:cNvSpPr>
            <a:spLocks noGrp="1"/>
          </p:cNvSpPr>
          <p:nvPr>
            <p:ph type="ctrTitle"/>
          </p:nvPr>
        </p:nvSpPr>
        <p:spPr>
          <a:xfrm>
            <a:off x="2700338" y="3141663"/>
            <a:ext cx="5907087" cy="577850"/>
          </a:xfrm>
        </p:spPr>
        <p:txBody>
          <a:bodyPr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en-US" altLang="en-US" sz="4000" dirty="0">
                <a:solidFill>
                  <a:srgbClr val="FFFF00"/>
                </a:solidFill>
                <a:latin typeface="Times New Roman" panose="02020603050405020304" pitchFamily="18" charset="0"/>
                <a:ea typeface="隶书" charset="-122"/>
                <a:cs typeface="+mj-cs"/>
              </a:rPr>
              <a:t>JAVAEE</a:t>
            </a:r>
            <a:r>
              <a:rPr lang="zh-CN" altLang="en-US" sz="40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开发框架</a:t>
            </a:r>
            <a:endParaRPr lang="en-US" altLang="zh-CN" sz="4000" dirty="0">
              <a:solidFill>
                <a:srgbClr val="FFFF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602" name="Text Box 3"/>
          <p:cNvSpPr txBox="1"/>
          <p:nvPr/>
        </p:nvSpPr>
        <p:spPr>
          <a:xfrm>
            <a:off x="2124075" y="3860800"/>
            <a:ext cx="1841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03" name="Text Box 4"/>
          <p:cNvSpPr txBox="1"/>
          <p:nvPr/>
        </p:nvSpPr>
        <p:spPr>
          <a:xfrm>
            <a:off x="2308225" y="4445000"/>
            <a:ext cx="6516688" cy="1260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en-US" sz="3600" b="1" dirty="0">
                <a:solidFill>
                  <a:schemeClr val="accent2"/>
                </a:solidFill>
                <a:latin typeface="华文楷体" pitchFamily="2" charset="-122"/>
                <a:ea typeface="华文楷体" pitchFamily="2" charset="-122"/>
              </a:rPr>
              <a:t>主讲教师：</a:t>
            </a:r>
            <a:r>
              <a:rPr lang="zh-CN" altLang="en-US" sz="4000" b="1" dirty="0">
                <a:solidFill>
                  <a:schemeClr val="accent2"/>
                </a:solidFill>
                <a:latin typeface="华文楷体" pitchFamily="2" charset="-122"/>
                <a:ea typeface="华文楷体" pitchFamily="2" charset="-122"/>
              </a:rPr>
              <a:t>胡 鹏 飞</a:t>
            </a:r>
            <a:endParaRPr lang="zh-CN" altLang="en-US" sz="4000" b="1" dirty="0">
              <a:solidFill>
                <a:schemeClr val="accent2"/>
              </a:solidFill>
              <a:latin typeface="华文楷体" pitchFamily="2" charset="-122"/>
              <a:ea typeface="华文楷体" pitchFamily="2" charset="-122"/>
            </a:endParaRPr>
          </a:p>
          <a:p>
            <a:endParaRPr lang="en-US" altLang="zh-CN" sz="3600" dirty="0">
              <a:solidFill>
                <a:schemeClr val="accent2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zh-CN" altLang="en-US"/>
              <a:t>章节目标</a:t>
            </a:r>
            <a:endParaRPr lang="zh-CN" altLang="en-US"/>
          </a:p>
        </p:txBody>
      </p:sp>
      <p:sp>
        <p:nvSpPr>
          <p:cNvPr id="26626" name="内容占位符 2"/>
          <p:cNvSpPr>
            <a:spLocks noGrp="1"/>
          </p:cNvSpPr>
          <p:nvPr>
            <p:ph idx="1"/>
          </p:nvPr>
        </p:nvSpPr>
        <p:spPr>
          <a:xfrm>
            <a:off x="683895" y="1419225"/>
            <a:ext cx="8229600" cy="4879975"/>
          </a:xfrm>
        </p:spPr>
        <p:txBody>
          <a:bodyPr anchor="t" anchorCtr="0"/>
          <a:p>
            <a:pPr marL="0" indent="0">
              <a:buNone/>
            </a:pPr>
            <a:r>
              <a:rPr lang="zh-CN" altLang="en-US" sz="2600"/>
              <a:t>理解SpringBoot概述及</a:t>
            </a:r>
            <a:r>
              <a:rPr lang="en-US" altLang="zh-CN" sz="2600"/>
              <a:t>SpringBoot</a:t>
            </a:r>
            <a:r>
              <a:rPr lang="zh-CN" altLang="en-US" sz="2600">
                <a:ea typeface="宋体" panose="02010600030101010101" pitchFamily="2" charset="-122"/>
              </a:rPr>
              <a:t>的配置</a:t>
            </a:r>
            <a:r>
              <a:rPr lang="zh-CN" altLang="en-US" sz="2600"/>
              <a:t>；</a:t>
            </a:r>
            <a:endParaRPr lang="zh-CN" altLang="en-US" sz="2600"/>
          </a:p>
          <a:p>
            <a:pPr marL="0" indent="0">
              <a:buNone/>
            </a:pPr>
            <a:r>
              <a:rPr lang="zh-CN" altLang="en-US" sz="2600"/>
              <a:t>了解Maven的概述与配置；</a:t>
            </a:r>
            <a:endParaRPr lang="zh-CN" altLang="en-US" sz="2600"/>
          </a:p>
          <a:p>
            <a:pPr marL="0" indent="0">
              <a:buNone/>
            </a:pPr>
            <a:r>
              <a:rPr lang="zh-CN" altLang="en-US" sz="2600"/>
              <a:t>掌握SpringBoot项目的创建过程；</a:t>
            </a:r>
            <a:endParaRPr lang="zh-CN" altLang="en-US" sz="2600"/>
          </a:p>
          <a:p>
            <a:pPr marL="0" indent="0">
              <a:buNone/>
            </a:pPr>
            <a:r>
              <a:rPr lang="zh-CN" altLang="en-US" sz="2600"/>
              <a:t>理解Thymeleaf的基本使用；</a:t>
            </a:r>
            <a:endParaRPr lang="zh-CN" altLang="en-US" sz="2600"/>
          </a:p>
          <a:p>
            <a:pPr marL="0" indent="0">
              <a:buNone/>
            </a:pPr>
            <a:r>
              <a:rPr lang="zh-CN" altLang="en-US" sz="2600">
                <a:sym typeface="+mn-ea"/>
              </a:rPr>
              <a:t>掌握SpringBoot整合</a:t>
            </a:r>
            <a:r>
              <a:rPr lang="en-US" altLang="zh-CN" sz="2600">
                <a:sym typeface="+mn-ea"/>
              </a:rPr>
              <a:t>mybatis</a:t>
            </a:r>
            <a:r>
              <a:rPr lang="zh-CN" altLang="en-US" sz="2600">
                <a:sym typeface="+mn-ea"/>
              </a:rPr>
              <a:t>；</a:t>
            </a:r>
            <a:endParaRPr lang="zh-CN" altLang="en-US" sz="2600">
              <a:sym typeface="+mn-ea"/>
            </a:endParaRPr>
          </a:p>
          <a:p>
            <a:pPr marL="0" indent="0">
              <a:buNone/>
            </a:pPr>
            <a:r>
              <a:rPr lang="zh-CN" altLang="en-US" sz="2600">
                <a:sym typeface="+mn-ea"/>
              </a:rPr>
              <a:t>掌握SpringBoot整合</a:t>
            </a:r>
            <a:r>
              <a:rPr lang="en-US" altLang="zh-CN" sz="2600">
                <a:sym typeface="+mn-ea"/>
              </a:rPr>
              <a:t>Spring Security;</a:t>
            </a:r>
            <a:endParaRPr lang="zh-CN" altLang="en-US" sz="2600"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页脚占位符 2"/>
          <p:cNvSpPr txBox="1">
            <a:spLocks noGrp="1"/>
          </p:cNvSpPr>
          <p:nvPr>
            <p:ph type="ftr" sz="quarter" idx="1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  <p:sp>
        <p:nvSpPr>
          <p:cNvPr id="27650" name="矩形 1"/>
          <p:cNvSpPr/>
          <p:nvPr/>
        </p:nvSpPr>
        <p:spPr>
          <a:xfrm>
            <a:off x="590550" y="723900"/>
            <a:ext cx="3840163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4.1 SpringBoot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简介</a:t>
            </a:r>
            <a:endParaRPr lang="zh-CN" altLang="en-US" sz="3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508" name="文本框 1"/>
          <p:cNvSpPr txBox="1"/>
          <p:nvPr/>
        </p:nvSpPr>
        <p:spPr>
          <a:xfrm>
            <a:off x="688975" y="1616075"/>
            <a:ext cx="8196262" cy="37090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40000"/>
              </a:lnSpc>
            </a:pPr>
            <a:r>
              <a:rPr lang="en-US" altLang="zh-CN" sz="2400">
                <a:sym typeface="+mn-ea"/>
              </a:rPr>
              <a:t>      </a:t>
            </a:r>
            <a:r>
              <a:rPr lang="zh-CN" altLang="en-US" sz="2400">
                <a:sym typeface="+mn-ea"/>
              </a:rPr>
              <a:t>Spring Boot是由Pivotal团队提供的一个快速开发框架，其设计目的是用来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简化</a:t>
            </a:r>
            <a:r>
              <a:rPr lang="zh-CN" altLang="en-US" sz="2400">
                <a:sym typeface="+mn-ea"/>
              </a:rPr>
              <a:t>Spring应用的初始搭建以及开发过程。通过用maven依赖的继承方式，快速整合第三方常用框架，完全采用注解化，简化XML配置，内置HTTP服务器（Tomcat，Jetty），最终以Java应用程序进行执行</a:t>
            </a:r>
            <a:r>
              <a:rPr lang="zh-CN" altLang="en-US" sz="2400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。该框架使用了特定的方式来进行配置即</a:t>
            </a:r>
            <a:r>
              <a:rPr lang="en-US" altLang="zh-CN" sz="2400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“</a:t>
            </a:r>
            <a:r>
              <a:rPr lang="zh-CN" altLang="en-US" sz="2400" noProof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约定大于配置</a:t>
            </a:r>
            <a:r>
              <a:rPr lang="en-US" altLang="zh-CN" sz="2400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”</a:t>
            </a:r>
            <a:r>
              <a:rPr lang="zh-CN" altLang="en-US" sz="2400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的方式，从而使开发人员</a:t>
            </a:r>
            <a:r>
              <a:rPr lang="zh-CN" altLang="en-US" sz="2400" noProof="1">
                <a:highlight>
                  <a:srgbClr val="00FFFF"/>
                </a:highligh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不再需要定义样板化的配置</a:t>
            </a:r>
            <a:r>
              <a:rPr lang="zh-CN" altLang="en-US" sz="2400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lang="zh-CN" altLang="en-US" sz="2400" noProof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3"/>
          <p:cNvSpPr>
            <a:spLocks noGrp="1"/>
          </p:cNvSpPr>
          <p:nvPr/>
        </p:nvSpPr>
        <p:spPr>
          <a:xfrm>
            <a:off x="1063625" y="1411288"/>
            <a:ext cx="7732713" cy="48799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674" name="Rectangle 3"/>
          <p:cNvSpPr>
            <a:spLocks noGrp="1"/>
          </p:cNvSpPr>
          <p:nvPr/>
        </p:nvSpPr>
        <p:spPr>
          <a:xfrm>
            <a:off x="704850" y="1538288"/>
            <a:ext cx="7732713" cy="48799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安装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JDK1.8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及以上版本</a:t>
            </a:r>
            <a:endParaRPr lang="zh-CN" altLang="en-US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安装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STS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或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IntelliJ IDEA</a:t>
            </a:r>
            <a:endParaRPr lang="zh-CN" altLang="en-US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安装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并修改其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setting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en-US" altLang="zh-CN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IDEA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STS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集成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endParaRPr lang="en-US" altLang="zh-CN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安装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MySql</a:t>
            </a:r>
            <a:endParaRPr lang="zh-CN" altLang="en-US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安装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navicat</a:t>
            </a:r>
            <a:endParaRPr lang="en-US" altLang="zh-CN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endParaRPr lang="zh-CN" altLang="en-US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675" name="矩形 1"/>
          <p:cNvSpPr/>
          <p:nvPr/>
        </p:nvSpPr>
        <p:spPr>
          <a:xfrm>
            <a:off x="590550" y="723900"/>
            <a:ext cx="4043363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4.1.1</a:t>
            </a:r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开发环境的配置</a:t>
            </a:r>
            <a:endParaRPr lang="zh-CN" altLang="en-US" sz="32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zoom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3"/>
          <p:cNvSpPr>
            <a:spLocks noGrp="1"/>
          </p:cNvSpPr>
          <p:nvPr/>
        </p:nvSpPr>
        <p:spPr>
          <a:xfrm>
            <a:off x="1063625" y="1411288"/>
            <a:ext cx="7732713" cy="48799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698" name="Rectangle 3"/>
          <p:cNvSpPr>
            <a:spLocks noGrp="1"/>
          </p:cNvSpPr>
          <p:nvPr/>
        </p:nvSpPr>
        <p:spPr>
          <a:xfrm>
            <a:off x="896938" y="1538288"/>
            <a:ext cx="7732712" cy="48799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第一个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SpringBoot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应用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AutoNum type="arabicPeriod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创建一个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springboot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项目：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springboot1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AutoNum type="arabicPeriod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创建包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controller,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在其中一个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TestController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类。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AutoNum type="arabicPeriod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在类上添加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@Controller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，编写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sayHello()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方法。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目标：掌握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SpringBoot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应用的创建过程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9699" name="矩形 1"/>
          <p:cNvSpPr/>
          <p:nvPr/>
        </p:nvSpPr>
        <p:spPr>
          <a:xfrm>
            <a:off x="590550" y="723900"/>
            <a:ext cx="561975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zh-CN" altLang="en-US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课堂设计</a:t>
            </a:r>
            <a:r>
              <a: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en-US" altLang="zh-CN" sz="2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SpringBoot</a:t>
            </a:r>
            <a:r>
              <a:rPr lang="zh-CN" altLang="en-US" sz="2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入门程序</a:t>
            </a:r>
            <a:endParaRPr lang="zh-CN" altLang="en-US" sz="26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027545" y="5531485"/>
            <a:ext cx="2004060" cy="9061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3"/>
          <p:cNvSpPr>
            <a:spLocks noGrp="1"/>
          </p:cNvSpPr>
          <p:nvPr/>
        </p:nvSpPr>
        <p:spPr>
          <a:xfrm>
            <a:off x="1063625" y="1411288"/>
            <a:ext cx="7732713" cy="48799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722" name="Rectangle 3"/>
          <p:cNvSpPr>
            <a:spLocks noGrp="1"/>
          </p:cNvSpPr>
          <p:nvPr/>
        </p:nvSpPr>
        <p:spPr>
          <a:xfrm>
            <a:off x="896938" y="1538288"/>
            <a:ext cx="7732712" cy="48799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endParaRPr lang="zh-CN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723" name="矩形 1"/>
          <p:cNvSpPr/>
          <p:nvPr/>
        </p:nvSpPr>
        <p:spPr>
          <a:xfrm>
            <a:off x="730250" y="765175"/>
            <a:ext cx="243903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4.1.2 Maven</a:t>
            </a:r>
            <a:endParaRPr lang="en-US" altLang="zh-CN" sz="32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724" name="文本框 1"/>
          <p:cNvSpPr txBox="1"/>
          <p:nvPr/>
        </p:nvSpPr>
        <p:spPr>
          <a:xfrm>
            <a:off x="5181600" y="819150"/>
            <a:ext cx="99695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</a:rPr>
              <a:t>yml文件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0725" name="文本框 1"/>
          <p:cNvSpPr txBox="1"/>
          <p:nvPr/>
        </p:nvSpPr>
        <p:spPr>
          <a:xfrm>
            <a:off x="514350" y="1411288"/>
            <a:ext cx="8281988" cy="2489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</a:pPr>
            <a:r>
              <a:rPr lang="en-US" altLang="zh-CN" sz="2400">
                <a:latin typeface="Arial" panose="020B0604020202020204" pitchFamily="34" charset="0"/>
              </a:rPr>
              <a:t>       </a:t>
            </a:r>
            <a:r>
              <a:rPr lang="zh-CN" altLang="en-US" sz="2400">
                <a:latin typeface="Arial" panose="020B0604020202020204" pitchFamily="34" charset="0"/>
              </a:rPr>
              <a:t>我们开发一个项目，即使做一个小demo，使用SS</a:t>
            </a:r>
            <a:r>
              <a:rPr lang="en-US" altLang="zh-CN" sz="2400">
                <a:latin typeface="Arial" panose="020B0604020202020204" pitchFamily="34" charset="0"/>
              </a:rPr>
              <a:t>M</a:t>
            </a:r>
            <a:r>
              <a:rPr lang="zh-CN" altLang="en-US" sz="2400">
                <a:latin typeface="Arial" panose="020B0604020202020204" pitchFamily="34" charset="0"/>
              </a:rPr>
              <a:t>框架，那么我们就必须将SS</a:t>
            </a:r>
            <a:r>
              <a:rPr lang="en-US" altLang="zh-CN" sz="2400">
                <a:latin typeface="Arial" panose="020B0604020202020204" pitchFamily="34" charset="0"/>
              </a:rPr>
              <a:t>M</a:t>
            </a:r>
            <a:r>
              <a:rPr lang="zh-CN" altLang="en-US" sz="2400">
                <a:latin typeface="Arial" panose="020B0604020202020204" pitchFamily="34" charset="0"/>
              </a:rPr>
              <a:t>框架所用的几十个依赖的jar包依次找出来并手动导入，超级繁琐。</a:t>
            </a:r>
            <a:endParaRPr lang="zh-CN" altLang="en-US" sz="2400"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2400">
                <a:latin typeface="Arial" panose="020B0604020202020204" pitchFamily="34" charset="0"/>
              </a:rPr>
              <a:t>      其实都属于项目与项目之间依赖的问题，人为手动的去解决，很繁琐，也不方便，所以使用Maven来帮我们管理。　</a:t>
            </a: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wedg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" name="组合 7"/>
          <p:cNvGrpSpPr/>
          <p:nvPr/>
        </p:nvGrpSpPr>
        <p:grpSpPr>
          <a:xfrm>
            <a:off x="3175" y="1641475"/>
            <a:ext cx="9144000" cy="892175"/>
            <a:chOff x="3628" y="1641617"/>
            <a:chExt cx="9144000" cy="891956"/>
          </a:xfrm>
        </p:grpSpPr>
        <p:sp>
          <p:nvSpPr>
            <p:cNvPr id="3" name="矩形 2"/>
            <p:cNvSpPr/>
            <p:nvPr/>
          </p:nvSpPr>
          <p:spPr bwMode="auto">
            <a:xfrm>
              <a:off x="3628" y="1641617"/>
              <a:ext cx="9144000" cy="891956"/>
            </a:xfrm>
            <a:prstGeom prst="rect">
              <a:avLst/>
            </a:prstGeom>
            <a:gradFill>
              <a:gsLst>
                <a:gs pos="100000">
                  <a:srgbClr val="00B0F0">
                    <a:alpha val="0"/>
                  </a:srgbClr>
                </a:gs>
                <a:gs pos="0">
                  <a:srgbClr val="D1ECFF">
                    <a:alpha val="0"/>
                  </a:srgbClr>
                </a:gs>
                <a:gs pos="49000">
                  <a:srgbClr val="D1ECFF"/>
                </a:gs>
              </a:gsLst>
              <a:lin ang="0" scaled="0"/>
            </a:gra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47" name="矩形 1"/>
            <p:cNvSpPr/>
            <p:nvPr/>
          </p:nvSpPr>
          <p:spPr>
            <a:xfrm>
              <a:off x="2378075" y="1735138"/>
              <a:ext cx="4959350" cy="6723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lnSpc>
                  <a:spcPct val="135000"/>
                </a:lnSpc>
              </a:pPr>
              <a:r>
                <a:rPr lang="zh-CN" altLang="en-US" sz="2800" dirty="0">
                  <a:latin typeface="微软雅黑" panose="020B0503020204020204" charset="-122"/>
                  <a:ea typeface="微软雅黑" panose="020B0503020204020204" charset="-122"/>
                </a:rPr>
                <a:t>什么是</a:t>
              </a:r>
              <a:r>
                <a:rPr lang="en-US" altLang="zh-CN" sz="2800" dirty="0">
                  <a:latin typeface="微软雅黑" panose="020B0503020204020204" charset="-122"/>
                  <a:ea typeface="微软雅黑" panose="020B0503020204020204" charset="-122"/>
                </a:rPr>
                <a:t>Maven</a:t>
              </a:r>
              <a:r>
                <a:rPr lang="zh-CN" altLang="zh-CN" sz="2800" dirty="0">
                  <a:latin typeface="微软雅黑" panose="020B0503020204020204" charset="-122"/>
                  <a:ea typeface="微软雅黑" panose="020B0503020204020204" charset="-122"/>
                </a:rPr>
                <a:t>？</a:t>
              </a:r>
              <a:endParaRPr lang="zh-CN" altLang="en-US" sz="2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1748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Maven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8" descr="问小人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3" y="1023938"/>
            <a:ext cx="2263775" cy="23415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 bwMode="auto">
          <a:xfrm>
            <a:off x="469900" y="3208655"/>
            <a:ext cx="8291195" cy="2746375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750" y="3476625"/>
            <a:ext cx="8064500" cy="20605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60000"/>
              </a:lnSpc>
            </a:pPr>
            <a:r>
              <a:rPr lang="zh-CN" altLang="zh-CN" sz="2000" dirty="0">
                <a:latin typeface="Times New Roman" panose="02020603050405020304" pitchFamily="18" charset="0"/>
              </a:rPr>
              <a:t>Maven是基于项目对象模型(POM project object model)，可以通过一小段描述信息（配置）来管理项目的构建，报告和文档的软件项目管理工具</a:t>
            </a:r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 sz="2000" dirty="0">
                <a:latin typeface="Times New Roman" panose="02020603050405020304" pitchFamily="18" charset="0"/>
              </a:rPr>
              <a:t> Maven的核心功能便是合理叙述项目间的依赖关系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 sz="2000" dirty="0">
                <a:latin typeface="Times New Roman" panose="02020603050405020304" pitchFamily="18" charset="0"/>
              </a:rPr>
              <a:t>通俗点讲，就是通过pom.xml文件的配置获取jar包，而不用手动去添加jar包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POM.xml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770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1917065"/>
            <a:ext cx="9088755" cy="33978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Maven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安装与集成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539750" y="1485265"/>
            <a:ext cx="8064500" cy="4740275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2140" y="1485265"/>
            <a:ext cx="7858125" cy="45231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6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学习通下载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maven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，解压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即可。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2.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安装路径下的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conf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文件夹中的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setting.xml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。一处是本地仓储，一处是修改下载镜像，还有是修改默认使用的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JDK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1.8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6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3. STS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集成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3796" name="图片 4"/>
          <p:cNvPicPr>
            <a:picLocks noChangeAspect="1"/>
          </p:cNvPicPr>
          <p:nvPr/>
        </p:nvPicPr>
        <p:blipFill>
          <a:blip r:embed="rId1"/>
          <a:srcRect l="58" t="33800" r="-58" b="28427"/>
          <a:stretch>
            <a:fillRect/>
          </a:stretch>
        </p:blipFill>
        <p:spPr>
          <a:xfrm>
            <a:off x="692150" y="3317875"/>
            <a:ext cx="7705725" cy="428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797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0" y="4014788"/>
            <a:ext cx="7112000" cy="12271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页脚占位符 2"/>
          <p:cNvSpPr txBox="1">
            <a:spLocks noGrp="1"/>
          </p:cNvSpPr>
          <p:nvPr>
            <p:ph type="ftr" sz="quarter" idx="1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+mn-cs"/>
              </a:rPr>
              <a:t>我 学 习 我 快 乐，我 快 乐 我 学 习</a:t>
            </a:r>
            <a:endParaRPr kumimoji="0" lang="en-US" sz="1800" b="1" i="0" u="none" strike="noStrike" kern="1200" cap="none" spc="0" normalizeH="0" baseline="0" noProof="0" smtClean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+mn-cs"/>
            </a:endParaRPr>
          </a:p>
        </p:txBody>
      </p:sp>
      <p:sp>
        <p:nvSpPr>
          <p:cNvPr id="35842" name="矩形 5"/>
          <p:cNvSpPr/>
          <p:nvPr/>
        </p:nvSpPr>
        <p:spPr>
          <a:xfrm>
            <a:off x="611823" y="692785"/>
            <a:ext cx="68630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4.1.3 SpringBoot</a:t>
            </a:r>
            <a:r>
              <a:rPr lang="zh-CN" altLang="zh-CN" sz="3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启动类与核心注解</a:t>
            </a:r>
            <a:endParaRPr lang="zh-CN" altLang="zh-CN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843" name="文本框 1"/>
          <p:cNvSpPr txBox="1"/>
          <p:nvPr/>
        </p:nvSpPr>
        <p:spPr>
          <a:xfrm>
            <a:off x="611188" y="1582738"/>
            <a:ext cx="7926387" cy="296799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</a:pP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启动类是自动生成的，其名称是项目名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+Application</a:t>
            </a:r>
            <a:endParaRPr lang="en-US" altLang="zh-CN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在该类上加上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@SpringBootApplication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2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@SpringBootApplication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SpringBoot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的核心注解，用此注解标注的入口类是应用的启动类。</a:t>
            </a:r>
            <a:r>
              <a:rPr lang="en-US" altLang="zh-CN" sz="2600" dirty="0">
                <a:latin typeface="宋体" panose="02010600030101010101" pitchFamily="2" charset="-122"/>
                <a:ea typeface="宋体" panose="02010600030101010101" pitchFamily="2" charset="-122"/>
              </a:rPr>
              <a:t>@SpringBootApplication</a:t>
            </a:r>
            <a:r>
              <a:rPr lang="zh-CN" altLang="en-US" sz="2600" dirty="0">
                <a:latin typeface="宋体" panose="02010600030101010101" pitchFamily="2" charset="-122"/>
                <a:ea typeface="宋体" panose="02010600030101010101" pitchFamily="2" charset="-122"/>
              </a:rPr>
              <a:t>其实是一个组合注解。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457200" y="1597025"/>
            <a:ext cx="8229600" cy="2077085"/>
          </a:xfrm>
          <a:ln>
            <a:miter lim="800000"/>
          </a:ln>
        </p:spPr>
        <p:txBody>
          <a:bodyPr vert="horz" wrap="square" lIns="91440" tIns="45720" rIns="91440" bIns="45720" anchor="t"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kumimoji="0" lang="zh-CN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在项目的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src/main/resouces</a:t>
            </a:r>
            <a:r>
              <a:rPr kumimoji="0" lang="zh-CN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目录下或在类路径的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/config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目录下创建一个全局的配置文件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application.properties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或是后缀为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.yml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文件，用于修改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SpringBoot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项目的默认配置值。</a:t>
            </a:r>
            <a:endParaRPr kumimoji="0" lang="en-US" altLang="zh-CN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zh-CN" altLang="zh-CN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endParaRPr kumimoji="0" lang="en-US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zh-CN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zh-CN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</a:pPr>
            <a:endParaRPr kumimoji="0" lang="en-US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Ø"/>
            </a:pPr>
            <a:endParaRPr kumimoji="0" lang="en-US" altLang="zh-CN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866" name="矩形 5"/>
          <p:cNvSpPr/>
          <p:nvPr/>
        </p:nvSpPr>
        <p:spPr>
          <a:xfrm>
            <a:off x="611188" y="692150"/>
            <a:ext cx="372745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4.1.4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全局配置文件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867" name="文本框 1"/>
          <p:cNvSpPr txBox="1"/>
          <p:nvPr/>
        </p:nvSpPr>
        <p:spPr>
          <a:xfrm>
            <a:off x="755650" y="6452870"/>
            <a:ext cx="823976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关于</a:t>
            </a:r>
            <a:r>
              <a:rPr lang="en-US" altLang="zh-CN">
                <a:latin typeface="Arial" panose="020B0604020202020204" pitchFamily="34" charset="0"/>
              </a:rPr>
              <a:t>yml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文件，参看</a:t>
            </a:r>
            <a:r>
              <a:rPr lang="zh-CN" altLang="en-US">
                <a:latin typeface="Arial" panose="020B0604020202020204" pitchFamily="34" charset="0"/>
              </a:rPr>
              <a:t>https://blog.csdn.net/beginya/article/details/76768968</a:t>
            </a:r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611188" y="5978525"/>
            <a:ext cx="8229600" cy="1063625"/>
          </a:xfrm>
          <a:ln>
            <a:miter lim="800000"/>
          </a:ln>
        </p:spPr>
        <p:txBody>
          <a:bodyPr vert="horz" wrap="square" lIns="91440" tIns="45720" rIns="91440" bIns="45720" anchor="t"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什么是模板引擎？常见的模板引擎有哪些？https://blog.csdn.net/blanceage/article/details/125714796</a:t>
            </a:r>
            <a:endParaRPr kumimoji="0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Ø"/>
            </a:pPr>
            <a:endParaRPr kumimoji="0" lang="en-US" altLang="zh-CN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914" name="矩形 5"/>
          <p:cNvSpPr/>
          <p:nvPr/>
        </p:nvSpPr>
        <p:spPr>
          <a:xfrm>
            <a:off x="611188" y="692150"/>
            <a:ext cx="8507412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</a:rPr>
              <a:t>4.2 Thymeleaf</a:t>
            </a:r>
            <a:r>
              <a:rPr lang="zh-CN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模板引擎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5" name="内容占位符 2"/>
          <p:cNvSpPr>
            <a:spLocks noGrp="1"/>
          </p:cNvSpPr>
          <p:nvPr/>
        </p:nvSpPr>
        <p:spPr>
          <a:xfrm>
            <a:off x="457200" y="1479550"/>
            <a:ext cx="8229600" cy="419163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zh-CN" sz="2400" b="1" dirty="0">
                <a:latin typeface="Arial" panose="020B0604020202020204" pitchFamily="34" charset="0"/>
              </a:rPr>
              <a:t>thymeleaf是什么</a:t>
            </a:r>
            <a:r>
              <a:rPr lang="zh-CN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？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zh-CN" dirty="0">
                <a:latin typeface="Arial" panose="020B0604020202020204" pitchFamily="34" charset="0"/>
              </a:rPr>
              <a:t> </a:t>
            </a:r>
            <a:r>
              <a:rPr lang="zh-CN" altLang="zh-CN" sz="2200" dirty="0">
                <a:latin typeface="Arial" panose="020B0604020202020204" pitchFamily="34" charset="0"/>
              </a:rPr>
              <a:t>      简单说， Thymeleaf 是一种模板引擎，它可以完全替代 JSP 。</a:t>
            </a:r>
            <a:endParaRPr lang="zh-CN" altLang="zh-CN" sz="2200" dirty="0">
              <a:latin typeface="Arial" panose="020B0604020202020204" pitchFamily="34" charset="0"/>
            </a:endParaRPr>
          </a:p>
          <a:p>
            <a:pPr algn="l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Tx/>
              <a:buFont typeface="Wingdings" panose="05000000000000000000" pitchFamily="2" charset="2"/>
            </a:pPr>
            <a:r>
              <a:rPr lang="zh-CN" altLang="zh-CN" sz="2400" b="1" dirty="0">
                <a:sym typeface="+mn-ea"/>
              </a:rPr>
              <a:t>模板引擎是什么？</a:t>
            </a:r>
            <a:endParaRPr lang="zh-CN" altLang="zh-CN" sz="2400" b="1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zh-CN" sz="2000" dirty="0">
                <a:latin typeface="Arial" panose="020B0604020202020204" pitchFamily="34" charset="0"/>
              </a:rPr>
              <a:t>模板引擎是以业务逻辑层和表现层分离为目的的，将规定格式的模板代码转换为业务数据的算法实现。</a:t>
            </a:r>
            <a:endParaRPr lang="zh-CN" altLang="zh-CN" sz="20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zh-CN" sz="2000" dirty="0">
                <a:latin typeface="Arial" panose="020B0604020202020204" pitchFamily="34" charset="0"/>
              </a:rPr>
              <a:t>它可以是一个过程代码、一个类，甚至是一个类库。不同的模板引擎其功用也不尽相同，但其基本原理都差不多。</a:t>
            </a:r>
            <a:endParaRPr lang="zh-CN" altLang="zh-CN" sz="2000" dirty="0">
              <a:latin typeface="Arial" panose="020B0604020202020204" pitchFamily="34" charset="0"/>
            </a:endParaRPr>
          </a:p>
          <a:p>
            <a:pPr lvl="1" indent="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None/>
            </a:pP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indent="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None/>
            </a:pP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611188" y="5978525"/>
            <a:ext cx="8229600" cy="1063625"/>
          </a:xfrm>
          <a:ln>
            <a:miter lim="800000"/>
          </a:ln>
        </p:spPr>
        <p:txBody>
          <a:bodyPr vert="horz" wrap="square" lIns="91440" tIns="45720" rIns="91440" bIns="45720" anchor="t"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thymeleaf快速入门教程https://blog.csdn.net/u014042066/article/details/75614906/</a:t>
            </a:r>
            <a:endParaRPr kumimoji="0" lang="zh-CN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</a:pPr>
            <a:endParaRPr kumimoji="0" lang="en-US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Ø"/>
            </a:pPr>
            <a:endParaRPr kumimoji="0" lang="en-US" altLang="zh-CN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8914" name="矩形 5"/>
          <p:cNvSpPr/>
          <p:nvPr/>
        </p:nvSpPr>
        <p:spPr>
          <a:xfrm>
            <a:off x="611188" y="692150"/>
            <a:ext cx="8507412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</a:rPr>
              <a:t>4.2 Thymeleaf</a:t>
            </a:r>
            <a:r>
              <a:rPr lang="zh-CN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模板引擎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15" name="内容占位符 2"/>
          <p:cNvSpPr>
            <a:spLocks noGrp="1"/>
          </p:cNvSpPr>
          <p:nvPr/>
        </p:nvSpPr>
        <p:spPr>
          <a:xfrm>
            <a:off x="467360" y="1479550"/>
            <a:ext cx="8229600" cy="4062413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en-US" altLang="zh-CN" sz="2400" b="1" dirty="0">
                <a:latin typeface="Arial" panose="020B0604020202020204" pitchFamily="34" charset="0"/>
              </a:rPr>
              <a:t>SpringBoot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整合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thymeleaf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zh-CN" dirty="0">
                <a:latin typeface="Arial" panose="020B0604020202020204" pitchFamily="34" charset="0"/>
              </a:rPr>
              <a:t>在</a:t>
            </a:r>
            <a:r>
              <a:rPr lang="en-US" altLang="zh-CN" dirty="0">
                <a:latin typeface="Arial" panose="020B0604020202020204" pitchFamily="34" charset="0"/>
              </a:rPr>
              <a:t>pom.xml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文件中添加以下依赖：</a:t>
            </a:r>
            <a:r>
              <a:rPr lang="zh-CN" altLang="zh-CN" dirty="0">
                <a:latin typeface="Arial" panose="020B0604020202020204" pitchFamily="34" charset="0"/>
              </a:rPr>
              <a:t> </a:t>
            </a:r>
            <a:endParaRPr lang="zh-CN" altLang="zh-CN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zh-CN" dirty="0">
                <a:latin typeface="Arial" panose="020B0604020202020204" pitchFamily="34" charset="0"/>
              </a:rPr>
              <a:t>&lt;dependency&gt;</a:t>
            </a:r>
            <a:endParaRPr lang="zh-CN" altLang="zh-CN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zh-CN" dirty="0">
                <a:latin typeface="Arial" panose="020B0604020202020204" pitchFamily="34" charset="0"/>
              </a:rPr>
              <a:t>      &lt;groupId&gt;org.springframework.boot&lt;/groupId&gt;</a:t>
            </a:r>
            <a:endParaRPr lang="zh-CN" altLang="zh-CN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zh-CN" dirty="0">
                <a:latin typeface="Arial" panose="020B0604020202020204" pitchFamily="34" charset="0"/>
              </a:rPr>
              <a:t>      &lt;artifactId&gt;spring-boot-starter-thymeleaf&lt;/artifactId&gt;</a:t>
            </a:r>
            <a:endParaRPr lang="zh-CN" altLang="zh-CN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</a:pPr>
            <a:r>
              <a:rPr lang="zh-CN" altLang="zh-CN" dirty="0">
                <a:latin typeface="Arial" panose="020B0604020202020204" pitchFamily="34" charset="0"/>
              </a:rPr>
              <a:t> &lt;/dependency&gt;</a:t>
            </a:r>
            <a:endParaRPr lang="zh-CN" altLang="zh-CN" dirty="0">
              <a:latin typeface="Arial" panose="020B0604020202020204" pitchFamily="34" charset="0"/>
            </a:endParaRPr>
          </a:p>
          <a:p>
            <a:pPr lvl="1" indent="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None/>
            </a:pP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indent="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None/>
            </a:pP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514350" y="1449388"/>
            <a:ext cx="8229600" cy="4910138"/>
          </a:xfrm>
          <a:ln>
            <a:miter lim="800000"/>
          </a:ln>
        </p:spPr>
        <p:txBody>
          <a:bodyPr vert="horz" wrap="square" lIns="91440" tIns="45720" rIns="91440" bIns="45720" anchor="t"/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#thymeleaf start</a:t>
            </a:r>
            <a:endParaRPr kumimoji="0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spring.thymeleaf.mode=HTML5</a:t>
            </a:r>
            <a:endParaRPr kumimoji="0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spring.thymeleaf.prefix=classpath:/templates/</a:t>
            </a:r>
            <a:endParaRPr kumimoji="0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spring.thymeleaf.encoding=UTF-8</a:t>
            </a:r>
            <a:endParaRPr kumimoji="0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spring.thymeleaf.content-type=text/html</a:t>
            </a:r>
            <a:endParaRPr kumimoji="0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#开发时关闭缓存,不然没法看到实时页面</a:t>
            </a:r>
            <a:endParaRPr kumimoji="0" sz="2400" b="0" i="0" u="none" strike="noStrike" kern="1200" cap="none" spc="0" normalizeH="0" baseline="0" noProof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spring.thymeleaf.cache=false</a:t>
            </a:r>
            <a:endParaRPr kumimoji="0" sz="2400" b="0" i="0" u="none" strike="noStrike" kern="1200" cap="none" spc="0" normalizeH="0" baseline="0" noProof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#thymeleaf end</a:t>
            </a:r>
            <a:endParaRPr kumimoji="0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zh-CN" altLang="zh-CN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v"/>
            </a:pPr>
            <a:endParaRPr kumimoji="0" lang="en-US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zh-CN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Ø"/>
            </a:pPr>
            <a:endParaRPr kumimoji="0" lang="zh-CN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</a:pPr>
            <a:endParaRPr kumimoji="0" lang="en-US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</a:pPr>
            <a:endParaRPr kumimoji="0" lang="zh-CN" altLang="zh-CN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Char char="Ø"/>
            </a:pPr>
            <a:endParaRPr kumimoji="0" lang="en-US" altLang="zh-CN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962" name="矩形 5"/>
          <p:cNvSpPr/>
          <p:nvPr/>
        </p:nvSpPr>
        <p:spPr>
          <a:xfrm>
            <a:off x="611188" y="692150"/>
            <a:ext cx="611759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4.2.1 </a:t>
            </a:r>
            <a:r>
              <a:rPr lang="zh-CN" altLang="en-US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配置thymeleaf视图解析器</a:t>
            </a:r>
            <a:endParaRPr lang="zh-CN" altLang="en-US" sz="32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矩形 5"/>
          <p:cNvSpPr/>
          <p:nvPr/>
        </p:nvSpPr>
        <p:spPr>
          <a:xfrm>
            <a:off x="611188" y="692150"/>
            <a:ext cx="46812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课堂设计</a:t>
            </a:r>
            <a:r>
              <a:rPr lang="en-US" altLang="zh-CN" sz="2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——thymeleaf</a:t>
            </a:r>
            <a:r>
              <a:rPr lang="zh-CN" altLang="en-US" sz="26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入门</a:t>
            </a:r>
            <a:endParaRPr lang="zh-CN" altLang="en-US" sz="2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539750" y="1275715"/>
            <a:ext cx="8059738" cy="4062413"/>
          </a:xfrm>
          <a:ln>
            <a:miter lim="800000"/>
          </a:ln>
        </p:spPr>
        <p:txBody>
          <a:bodyPr vert="horz" wrap="square" lIns="91440" tIns="45720" rIns="91440" bIns="45720" anchor="t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endParaRPr kumimoji="0" lang="zh-CN" altLang="en-US" sz="20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AutoNum type="arabicPeriod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在</a:t>
            </a:r>
            <a:r>
              <a:rPr lang="en-US" altLang="zh-CN" sz="2400" kern="1200" dirty="0">
                <a:ea typeface="宋体" panose="02010600030101010101" pitchFamily="2" charset="-122"/>
                <a:sym typeface="+mn-ea"/>
              </a:rPr>
              <a:t>src/main/resouces</a:t>
            </a:r>
            <a:r>
              <a:rPr lang="zh-CN" altLang="zh-CN" sz="2400" kern="1200" dirty="0">
                <a:ea typeface="宋体" panose="02010600030101010101" pitchFamily="2" charset="-122"/>
                <a:sym typeface="+mn-ea"/>
              </a:rPr>
              <a:t>目录下的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templates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中添加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bookList.html</a:t>
            </a:r>
            <a:r>
              <a:rPr kumimoji="0" lang="zh-CN" altLang="en-US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（学习通下载）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AutoNum type="arabicPeriod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在项目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中引入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Bootstrap</a:t>
            </a:r>
            <a:r>
              <a:rPr lang="zh-CN" altLang="en-US" sz="1800" kern="1200" dirty="0">
                <a:ea typeface="宋体" panose="02010600030101010101" pitchFamily="2" charset="-122"/>
                <a:sym typeface="+mn-ea"/>
              </a:rPr>
              <a:t>（学习通下载</a:t>
            </a:r>
            <a:r>
              <a:rPr lang="en-US" altLang="zh-CN" sz="1800" kern="1200" dirty="0">
                <a:ea typeface="宋体" panose="02010600030101010101" pitchFamily="2" charset="-122"/>
                <a:sym typeface="+mn-ea"/>
              </a:rPr>
              <a:t>static.rar</a:t>
            </a:r>
            <a:r>
              <a:rPr lang="zh-CN" altLang="en-US" sz="1800" kern="1200" dirty="0">
                <a:ea typeface="宋体" panose="02010600030101010101" pitchFamily="2" charset="-122"/>
                <a:sym typeface="+mn-ea"/>
              </a:rPr>
              <a:t>）</a:t>
            </a:r>
            <a:r>
              <a:rPr lang="en-US" altLang="zh-CN" sz="1800" kern="1200" dirty="0">
                <a:ea typeface="宋体" panose="02010600030101010101" pitchFamily="2" charset="-122"/>
                <a:sym typeface="+mn-ea"/>
              </a:rPr>
              <a:t>,</a:t>
            </a: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将</a:t>
            </a:r>
            <a:r>
              <a:rPr lang="en-US" altLang="zh-CN" sz="2400" kern="1200" dirty="0">
                <a:ea typeface="宋体" panose="02010600030101010101" pitchFamily="2" charset="-122"/>
                <a:sym typeface="+mn-ea"/>
              </a:rPr>
              <a:t>static.rar</a:t>
            </a: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中的文件</a:t>
            </a:r>
            <a:r>
              <a:rPr lang="en-US" altLang="zh-CN" sz="2400" kern="1200" dirty="0">
                <a:ea typeface="宋体" panose="02010600030101010101" pitchFamily="2" charset="-122"/>
                <a:sym typeface="+mn-ea"/>
              </a:rPr>
              <a:t>copy</a:t>
            </a: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到项目的</a:t>
            </a:r>
            <a:r>
              <a:rPr lang="en-US" altLang="zh-CN" sz="2400" kern="1200" dirty="0">
                <a:ea typeface="宋体" panose="02010600030101010101" pitchFamily="2" charset="-122"/>
                <a:sym typeface="+mn-ea"/>
              </a:rPr>
              <a:t>static</a:t>
            </a: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目录中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。</a:t>
            </a:r>
            <a:endParaRPr kumimoji="0" lang="zh-CN" altLang="en-US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AutoNum type="arabicPeriod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  <a:cs typeface="+mn-cs"/>
              </a:rPr>
              <a:t>在bookList.html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  <a:cs typeface="+mn-cs"/>
              </a:rPr>
              <a:t> &lt;table&gt;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  <a:cs typeface="+mn-cs"/>
              </a:rPr>
              <a:t>标签中编写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  <a:cs typeface="+mn-cs"/>
              </a:rPr>
              <a:t>thymeleaf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  <a:cs typeface="+mn-cs"/>
              </a:rPr>
              <a:t>代码显示图书信息。（参考下页截图）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AutoNum type="arabicPeriod"/>
            </a:pP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创建</a:t>
            </a:r>
            <a:r>
              <a:rPr lang="en-US" altLang="zh-CN" sz="2400" kern="1200" dirty="0">
                <a:ea typeface="宋体" panose="02010600030101010101" pitchFamily="2" charset="-122"/>
                <a:sym typeface="+mn-ea"/>
              </a:rPr>
              <a:t>entity</a:t>
            </a: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包</a:t>
            </a:r>
            <a:r>
              <a:rPr lang="en-US" altLang="zh-CN" sz="2400" kern="1200" dirty="0">
                <a:ea typeface="宋体" panose="02010600030101010101" pitchFamily="2" charset="-122"/>
                <a:sym typeface="+mn-ea"/>
              </a:rPr>
              <a:t>,</a:t>
            </a: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创建</a:t>
            </a:r>
            <a:r>
              <a:rPr lang="en-US" altLang="zh-CN" sz="2400" kern="1200" dirty="0">
                <a:ea typeface="宋体" panose="02010600030101010101" pitchFamily="2" charset="-122"/>
                <a:sym typeface="+mn-ea"/>
              </a:rPr>
              <a:t>Book.java</a:t>
            </a: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实体类</a:t>
            </a:r>
            <a:r>
              <a:rPr lang="zh-CN" altLang="en-US" sz="1800" kern="1200" dirty="0">
                <a:ea typeface="宋体" panose="02010600030101010101" pitchFamily="2" charset="-122"/>
                <a:sym typeface="+mn-ea"/>
              </a:rPr>
              <a:t>（学习通下载）</a:t>
            </a: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。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AutoNum type="arabicPeriod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创建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controller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包，再创建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BookController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类，添加方法getBooks()模拟获取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booklist</a:t>
            </a:r>
            <a:r>
              <a:rPr lang="zh-CN" altLang="en-US" sz="1800" kern="1200" dirty="0">
                <a:ea typeface="宋体" panose="02010600030101010101" pitchFamily="2" charset="-122"/>
                <a:sym typeface="+mn-ea"/>
              </a:rPr>
              <a:t>（学习通下载</a:t>
            </a:r>
            <a:r>
              <a:rPr lang="zh-CN" altLang="en-US" sz="1800" kern="1200" dirty="0">
                <a:ea typeface="宋体" panose="02010600030101010101" pitchFamily="2" charset="-122"/>
                <a:sym typeface="+mn-ea"/>
              </a:rPr>
              <a:t>getBooks</a:t>
            </a:r>
            <a:r>
              <a:rPr lang="en-US" altLang="zh-CN" sz="1800" kern="1200" dirty="0">
                <a:ea typeface="宋体" panose="02010600030101010101" pitchFamily="2" charset="-122"/>
                <a:sym typeface="+mn-ea"/>
              </a:rPr>
              <a:t>.txt</a:t>
            </a:r>
            <a:r>
              <a:rPr lang="zh-CN" altLang="en-US" sz="1800" kern="1200" dirty="0">
                <a:ea typeface="宋体" panose="02010600030101010101" pitchFamily="2" charset="-122"/>
                <a:sym typeface="+mn-ea"/>
              </a:rPr>
              <a:t>）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，添加方法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t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oBookList动态显示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bookList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。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AutoNum type="arabicPeriod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运行项目，访问http://localhost:808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0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/bookList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7360" y="2780665"/>
            <a:ext cx="8197215" cy="19780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4034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30" name="Picture 31" descr="C:\Users\admin\Desktop\201777-12062Q1302417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2736850"/>
            <a:ext cx="3677285" cy="2204085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036" name="TextBox 24"/>
          <p:cNvSpPr txBox="1"/>
          <p:nvPr/>
        </p:nvSpPr>
        <p:spPr>
          <a:xfrm>
            <a:off x="1643063" y="3635058"/>
            <a:ext cx="20510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1">
            <a:spAutoFit/>
          </a:bodyPr>
          <a:p>
            <a:r>
              <a:rPr lang="zh-CN" altLang="en-US" sz="3600" b="1" dirty="0">
                <a:solidFill>
                  <a:srgbClr val="51DAFF"/>
                </a:solidFill>
                <a:latin typeface="微软雅黑" panose="020B0503020204020204" charset="-122"/>
                <a:ea typeface="微软雅黑" panose="020B0503020204020204" charset="-122"/>
              </a:rPr>
              <a:t>上机作业</a:t>
            </a:r>
            <a:endParaRPr lang="zh-CN" altLang="en-US" sz="3600" b="1" dirty="0">
              <a:solidFill>
                <a:srgbClr val="51DA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剪去对角的矩形 3"/>
          <p:cNvSpPr/>
          <p:nvPr/>
        </p:nvSpPr>
        <p:spPr bwMode="auto">
          <a:xfrm>
            <a:off x="4113213" y="1619250"/>
            <a:ext cx="1744663" cy="550863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rgbClr val="009ED6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thymeleaf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44038" name="直线连接符 9"/>
          <p:cNvCxnSpPr/>
          <p:nvPr/>
        </p:nvCxnSpPr>
        <p:spPr>
          <a:xfrm>
            <a:off x="4462463" y="2316163"/>
            <a:ext cx="3532187" cy="0"/>
          </a:xfrm>
          <a:prstGeom prst="line">
            <a:avLst/>
          </a:prstGeom>
          <a:ln w="28575" cap="flat" cmpd="sng">
            <a:solidFill>
              <a:srgbClr val="00A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039" name="矩形 35"/>
          <p:cNvSpPr/>
          <p:nvPr/>
        </p:nvSpPr>
        <p:spPr>
          <a:xfrm>
            <a:off x="4238625" y="2398713"/>
            <a:ext cx="4570413" cy="39693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显示图书列表每行显示序号；</a:t>
            </a:r>
            <a:endParaRPr lang="zh-CN" altLang="en-US" sz="2400" b="1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点击书名可以跳转到详细页面；</a:t>
            </a:r>
            <a:endParaRPr lang="zh-CN" altLang="en-US" sz="2400" b="1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作者名超过</a:t>
            </a: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个字符的之后的字符用</a:t>
            </a: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.....</a:t>
            </a:r>
            <a:endParaRPr lang="en-US" altLang="zh-CN" sz="2400" b="1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4.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将价格大于等于</a:t>
            </a: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的标红；</a:t>
            </a:r>
            <a:endParaRPr lang="zh-CN" altLang="en-US" sz="2400" b="1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040" name="矩形 5"/>
          <p:cNvSpPr/>
          <p:nvPr/>
        </p:nvSpPr>
        <p:spPr>
          <a:xfrm>
            <a:off x="611188" y="692150"/>
            <a:ext cx="46812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zh-CN" altLang="en-US" sz="32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上机作业</a:t>
            </a:r>
            <a:r>
              <a:rPr lang="en-US" altLang="zh-CN" sz="2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——thymeleaf</a:t>
            </a:r>
            <a:r>
              <a:rPr lang="zh-CN" altLang="en-US" sz="2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应用</a:t>
            </a:r>
            <a:endParaRPr lang="zh-CN" altLang="en-US" sz="2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514350" y="1449388"/>
            <a:ext cx="8229600" cy="4910138"/>
          </a:xfrm>
          <a:ln>
            <a:miter lim="800000"/>
          </a:ln>
        </p:spPr>
        <p:txBody>
          <a:bodyPr vert="horz" wrap="square" lIns="91440" tIns="45720" rIns="91440" bIns="45720" anchor="t"/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）</a:t>
            </a:r>
            <a:r>
              <a:rPr kumimoji="0" 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添加依赖</a:t>
            </a:r>
            <a:endParaRPr kumimoji="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&lt;!-- mybatis --&gt;</a:t>
            </a:r>
            <a:endParaRPr kumimoji="0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</a:t>
            </a: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&lt;dependency&gt;</a:t>
            </a:r>
            <a:endParaRPr kumimoji="0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&lt;groupId&gt;org.mybatis.spring.boot&lt;/groupId&gt;</a:t>
            </a:r>
            <a:endParaRPr kumimoji="0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&lt;artifactId&gt;mybatis-spring-boot-starter&lt;/artifactId&gt;</a:t>
            </a:r>
            <a:endParaRPr kumimoji="0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&lt;version&gt;2.2.2&lt;/version&gt;</a:t>
            </a:r>
            <a:endParaRPr kumimoji="0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&lt;/dependency&gt;</a:t>
            </a:r>
            <a:endParaRPr kumimoji="0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&lt;!-- mysql --&gt;</a:t>
            </a:r>
            <a:endParaRPr kumimoji="0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&lt;dependency&gt;</a:t>
            </a:r>
            <a:endParaRPr kumimoji="0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&lt;groupId&gt;mysql&lt;/groupId&gt;</a:t>
            </a:r>
            <a:endParaRPr kumimoji="0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&lt;artifactId&gt;mysql-connector-java&lt;/artifactId&gt;</a:t>
            </a:r>
            <a:endParaRPr kumimoji="0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&lt;scope&gt;runtime&lt;/scope&gt;</a:t>
            </a:r>
            <a:endParaRPr kumimoji="0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&lt;/dependency&gt;</a:t>
            </a:r>
            <a:endParaRPr kumimoji="0" lang="zh-CN" altLang="zh-CN" sz="12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962" name="矩形 5"/>
          <p:cNvSpPr/>
          <p:nvPr/>
        </p:nvSpPr>
        <p:spPr>
          <a:xfrm>
            <a:off x="611188" y="692150"/>
            <a:ext cx="530669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4.3 </a:t>
            </a:r>
            <a:r>
              <a:rPr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SpringBoot整合mybatis</a:t>
            </a:r>
            <a:endParaRPr sz="32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514350" y="1449388"/>
            <a:ext cx="8229600" cy="4910138"/>
          </a:xfrm>
          <a:ln>
            <a:miter lim="800000"/>
          </a:ln>
        </p:spPr>
        <p:txBody>
          <a:bodyPr vert="horz" wrap="square" lIns="91440" tIns="45720" rIns="91440" bIns="45720" anchor="t"/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）</a:t>
            </a:r>
            <a:r>
              <a:rPr kumimoji="0" 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编写application.properties配置文件</a:t>
            </a:r>
            <a:endParaRPr kumimoji="0" lang="en-US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#数据源配置</a:t>
            </a:r>
            <a:endParaRPr kumimoji="0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spring.datasource.url=jdbc:mysql://localhost:3306/mybatis?useSSL=false&amp;characterEncoding=utf-8&amp;serverTimezone=GMT%2B8</a:t>
            </a:r>
            <a:endParaRPr kumimoji="0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spring.datasource.username=root</a:t>
            </a:r>
            <a:endParaRPr kumimoji="0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spring.datasource.password=</a:t>
            </a:r>
            <a:r>
              <a:rPr kumimoji="0" sz="1600" b="1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1234</a:t>
            </a:r>
            <a:endParaRPr kumimoji="0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#mybatis配置</a:t>
            </a:r>
            <a:endParaRPr kumimoji="0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mybatis.type-aliases-package=</a:t>
            </a:r>
            <a:r>
              <a:rPr kumimoji="0" sz="1600" b="1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com.xxu.sp1.entity</a:t>
            </a:r>
            <a:endParaRPr kumimoji="0" sz="1600" b="1" i="0" u="none" strike="noStrike" kern="1200" cap="none" spc="0" normalizeH="0" baseline="0" noProof="1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mybatis.mapper-locations=classpath:mapper/*.xml</a:t>
            </a:r>
            <a:endParaRPr kumimoji="0" sz="16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962" name="矩形 5"/>
          <p:cNvSpPr/>
          <p:nvPr/>
        </p:nvSpPr>
        <p:spPr>
          <a:xfrm>
            <a:off x="611188" y="692150"/>
            <a:ext cx="530669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4.3 </a:t>
            </a:r>
            <a:r>
              <a:rPr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SpringBoot整合mybatis</a:t>
            </a:r>
            <a:endParaRPr sz="32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514350" y="1449705"/>
            <a:ext cx="8229600" cy="4196715"/>
          </a:xfrm>
          <a:ln>
            <a:miter lim="800000"/>
          </a:ln>
        </p:spPr>
        <p:txBody>
          <a:bodyPr vert="horz" wrap="square" lIns="91440" tIns="45720" rIns="91440" bIns="45720" anchor="t"/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）</a:t>
            </a:r>
            <a:r>
              <a:rPr kumimoji="0" 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创建</a:t>
            </a:r>
            <a: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dao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包，在其中创建interface BookMapper，并添加</a:t>
            </a:r>
            <a:r>
              <a:rPr kumimoji="0" lang="en-US" altLang="zh-CN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  <a:cs typeface="+mn-cs"/>
              </a:rPr>
              <a:t>@Mapper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注解，编写接口方法List&lt;Book&gt; getBookList()。</a:t>
            </a:r>
            <a:endParaRPr kumimoji="0" lang="zh-CN" altLang="en-US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）在</a:t>
            </a:r>
            <a: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resource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目录下创建</a:t>
            </a:r>
            <a: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mapper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目录，编写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  <a:cs typeface="+mn-cs"/>
              </a:rPr>
              <a:t>接口实现映射文件</a:t>
            </a:r>
            <a:r>
              <a:rPr lang="zh-CN" altLang="en-US" kern="1200" dirty="0">
                <a:ea typeface="宋体" panose="02010600030101010101" pitchFamily="2" charset="-122"/>
                <a:sym typeface="+mn-ea"/>
              </a:rPr>
              <a:t>BookMapper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.xml</a:t>
            </a:r>
            <a:r>
              <a: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（学习通下载）</a:t>
            </a:r>
            <a:endParaRPr kumimoji="0" lang="zh-CN" altLang="en-US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）创建</a:t>
            </a:r>
            <a: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service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包，在其中创建接口</a:t>
            </a:r>
            <a: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IBookService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，并实现接口类</a:t>
            </a:r>
            <a: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BookServiceImpl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6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）修改BookController的toBookList方法改为调用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rgbClr val="FF0000"/>
                </a:solidFill>
                <a:latin typeface="+mn-lt"/>
                <a:ea typeface="宋体" panose="02010600030101010101" pitchFamily="2" charset="-122"/>
                <a:cs typeface="+mn-cs"/>
              </a:rPr>
              <a:t>bookService.getBookList()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。</a:t>
            </a:r>
            <a:endParaRPr kumimoji="0" lang="zh-CN" altLang="en-US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zh-CN" altLang="en-US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zh-CN" altLang="zh-CN" sz="12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962" name="矩形 5"/>
          <p:cNvSpPr/>
          <p:nvPr/>
        </p:nvSpPr>
        <p:spPr>
          <a:xfrm>
            <a:off x="611188" y="692150"/>
            <a:ext cx="530669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4.3 </a:t>
            </a:r>
            <a:r>
              <a:rPr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SpringBoot整合mybatis</a:t>
            </a:r>
            <a:endParaRPr sz="32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矩形 5"/>
          <p:cNvSpPr/>
          <p:nvPr/>
        </p:nvSpPr>
        <p:spPr>
          <a:xfrm>
            <a:off x="611188" y="692150"/>
            <a:ext cx="502412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课堂设计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完成添加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Book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功能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781050" y="1397000"/>
            <a:ext cx="8059738" cy="4062413"/>
          </a:xfrm>
          <a:ln>
            <a:miter lim="800000"/>
          </a:ln>
        </p:spPr>
        <p:txBody>
          <a:bodyPr vert="horz" wrap="square" lIns="91440" tIns="45720" rIns="91440" bIns="45720" anchor="t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457200" marR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AutoNum type="arabicPeriod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添加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addBook.html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页面</a:t>
            </a:r>
            <a:r>
              <a:rPr kumimoji="0" lang="zh-CN" altLang="en-US" sz="18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（学习通下载）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,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并完善代码。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AutoNum type="arabicPeriod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在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bookController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类中实现toAddBook方法。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  <a:p>
            <a:pPr marL="457200" marR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AutoNum type="arabicPeriod"/>
            </a:pP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在</a:t>
            </a:r>
            <a:r>
              <a:rPr lang="en-US" altLang="zh-CN" sz="2400" kern="1200" dirty="0">
                <a:ea typeface="宋体" panose="02010600030101010101" pitchFamily="2" charset="-122"/>
                <a:sym typeface="+mn-ea"/>
              </a:rPr>
              <a:t>bookController</a:t>
            </a: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类中实现</a:t>
            </a:r>
            <a:r>
              <a:rPr lang="en-US" altLang="zh-CN" sz="2400" kern="1200" dirty="0">
                <a:ea typeface="宋体" panose="02010600030101010101" pitchFamily="2" charset="-122"/>
                <a:sym typeface="+mn-ea"/>
              </a:rPr>
              <a:t>a</a:t>
            </a: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ddBook方法。</a:t>
            </a:r>
            <a:endParaRPr lang="zh-CN" altLang="en-US" sz="2400" kern="1200" dirty="0">
              <a:ea typeface="宋体" panose="02010600030101010101" pitchFamily="2" charset="-122"/>
              <a:sym typeface="+mn-ea"/>
            </a:endParaRPr>
          </a:p>
          <a:p>
            <a:pPr marL="457200" marR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AutoNum type="arabicPeriod"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在bookList.html中显示添加的图书信息。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AutoNum type="arabicPeriod"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71550" y="4077335"/>
            <a:ext cx="7025640" cy="12496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1484630"/>
            <a:ext cx="7810500" cy="15906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3429000"/>
            <a:ext cx="7496175" cy="20097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4034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30" name="Picture 31" descr="C:\Users\admin\Desktop\201777-12062Q1302417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2736850"/>
            <a:ext cx="3677285" cy="2204085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036" name="TextBox 24"/>
          <p:cNvSpPr txBox="1"/>
          <p:nvPr/>
        </p:nvSpPr>
        <p:spPr>
          <a:xfrm>
            <a:off x="1643063" y="3635058"/>
            <a:ext cx="20510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1">
            <a:spAutoFit/>
          </a:bodyPr>
          <a:p>
            <a:r>
              <a:rPr lang="zh-CN" altLang="en-US" sz="3600" b="1" dirty="0">
                <a:solidFill>
                  <a:srgbClr val="51DAFF"/>
                </a:solidFill>
                <a:latin typeface="微软雅黑" panose="020B0503020204020204" charset="-122"/>
                <a:ea typeface="微软雅黑" panose="020B0503020204020204" charset="-122"/>
              </a:rPr>
              <a:t>上机作业</a:t>
            </a:r>
            <a:endParaRPr lang="zh-CN" altLang="en-US" sz="3600" b="1" dirty="0">
              <a:solidFill>
                <a:srgbClr val="51DA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剪去对角的矩形 3"/>
          <p:cNvSpPr/>
          <p:nvPr/>
        </p:nvSpPr>
        <p:spPr bwMode="auto">
          <a:xfrm>
            <a:off x="4113213" y="1619250"/>
            <a:ext cx="1744663" cy="550863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rgbClr val="009ED6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mybatis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44038" name="直线连接符 9"/>
          <p:cNvCxnSpPr/>
          <p:nvPr/>
        </p:nvCxnSpPr>
        <p:spPr>
          <a:xfrm>
            <a:off x="4462463" y="2316163"/>
            <a:ext cx="3532187" cy="0"/>
          </a:xfrm>
          <a:prstGeom prst="line">
            <a:avLst/>
          </a:prstGeom>
          <a:ln w="28575" cap="flat" cmpd="sng">
            <a:solidFill>
              <a:srgbClr val="00A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039" name="矩形 35"/>
          <p:cNvSpPr/>
          <p:nvPr/>
        </p:nvSpPr>
        <p:spPr>
          <a:xfrm>
            <a:off x="4075430" y="2399030"/>
            <a:ext cx="473392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</a:t>
            </a: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修改</a:t>
            </a: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完成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修改图书功能</a:t>
            </a:r>
            <a:endParaRPr lang="zh-CN" altLang="en-US" sz="2400" b="1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点击</a:t>
            </a: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删除</a:t>
            </a: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完成删除图书功能</a:t>
            </a:r>
            <a:endParaRPr lang="en-US" altLang="zh-CN" sz="2400" b="1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040" name="矩形 5"/>
          <p:cNvSpPr/>
          <p:nvPr/>
        </p:nvSpPr>
        <p:spPr>
          <a:xfrm>
            <a:off x="611188" y="692150"/>
            <a:ext cx="562737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zh-CN" altLang="en-US" sz="32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上机作业</a:t>
            </a:r>
            <a:r>
              <a:rPr lang="en-US" altLang="zh-CN" sz="2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——</a:t>
            </a:r>
            <a:r>
              <a:rPr lang="zh-CN" sz="2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修改与删除</a:t>
            </a:r>
            <a:r>
              <a:rPr lang="en-US" altLang="zh-CN" sz="2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Book</a:t>
            </a:r>
            <a:r>
              <a:rPr lang="zh-CN" altLang="en-US" sz="2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功能</a:t>
            </a:r>
            <a:endParaRPr lang="zh-CN" altLang="en-US" sz="2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矩形 35"/>
          <p:cNvSpPr/>
          <p:nvPr/>
        </p:nvSpPr>
        <p:spPr>
          <a:xfrm>
            <a:off x="3996055" y="4721225"/>
            <a:ext cx="473392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</a:pPr>
            <a:r>
              <a:rPr lang="zh-CN" sz="1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学习通下载上机指导书</a:t>
            </a:r>
            <a:endParaRPr lang="zh-CN" sz="1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矩形 5"/>
          <p:cNvSpPr/>
          <p:nvPr/>
        </p:nvSpPr>
        <p:spPr>
          <a:xfrm>
            <a:off x="611188" y="692150"/>
            <a:ext cx="396748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引例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显示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product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列表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5560" y="1557020"/>
            <a:ext cx="9126855" cy="43389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55650" y="6093460"/>
            <a:ext cx="4607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http://localhost:8082/product/list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矩形 5"/>
          <p:cNvSpPr/>
          <p:nvPr/>
        </p:nvSpPr>
        <p:spPr>
          <a:xfrm>
            <a:off x="611188" y="692150"/>
            <a:ext cx="488569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引例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显示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product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列表及分类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64030" y="2132965"/>
            <a:ext cx="53416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矩形 5"/>
          <p:cNvSpPr/>
          <p:nvPr/>
        </p:nvSpPr>
        <p:spPr>
          <a:xfrm>
            <a:off x="611188" y="692150"/>
            <a:ext cx="570230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zh-CN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课堂设计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显示</a:t>
            </a:r>
            <a:r>
              <a:rPr lang="en-US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product</a:t>
            </a:r>
            <a:r>
              <a:rPr lang="zh-CN" altLang="en-US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列表及分类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781050" y="1397000"/>
            <a:ext cx="8060055" cy="1595755"/>
          </a:xfrm>
          <a:ln>
            <a:miter lim="800000"/>
          </a:ln>
        </p:spPr>
        <p:txBody>
          <a:bodyPr vert="horz" wrap="square" lIns="91440" tIns="45720" rIns="91440" bIns="45720" anchor="t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查看数据库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mybatis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中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tb_category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与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tb_product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，编写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sql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语句查询结果如下：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AutoNum type="arabicPeriod"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2185670"/>
            <a:ext cx="7953375" cy="8070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785" y="3141345"/>
            <a:ext cx="5485765" cy="3240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矩形 5"/>
          <p:cNvSpPr/>
          <p:nvPr/>
        </p:nvSpPr>
        <p:spPr>
          <a:xfrm>
            <a:off x="611188" y="692150"/>
            <a:ext cx="570230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zh-CN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课堂设计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显示</a:t>
            </a:r>
            <a:r>
              <a:rPr lang="en-US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product</a:t>
            </a:r>
            <a:r>
              <a:rPr lang="zh-CN" altLang="en-US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列表及分类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781050" y="1485265"/>
            <a:ext cx="8060055" cy="5102860"/>
          </a:xfrm>
          <a:ln>
            <a:miter lim="800000"/>
          </a:ln>
        </p:spPr>
        <p:txBody>
          <a:bodyPr vert="horz" wrap="square" lIns="91440" tIns="45720" rIns="91440" bIns="45720" anchor="t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1. </a:t>
            </a:r>
            <a:r>
              <a:rPr kumimoji="0" 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创建实体类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product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与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category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。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public class Category {</a:t>
            </a:r>
            <a:endParaRPr kumimoji="0" lang="zh-CN" altLang="en-US" b="0" i="0" u="none" strike="noStrike" kern="1200" cap="none" spc="0" normalizeH="0" baseline="0" noProof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	Integer categoryId;</a:t>
            </a:r>
            <a:endParaRPr kumimoji="0" lang="zh-CN" altLang="en-US" b="0" i="0" u="none" strike="noStrike" kern="1200" cap="none" spc="0" normalizeH="0" baseline="0" noProof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	String categoryName;</a:t>
            </a:r>
            <a:b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</a:br>
            <a: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}</a:t>
            </a:r>
            <a:endParaRPr kumimoji="0" lang="en-US" altLang="zh-CN" b="0" i="0" u="none" strike="noStrike" kern="1200" cap="none" spc="0" normalizeH="0" baseline="0" noProof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public class Product {</a:t>
            </a:r>
            <a:endParaRPr kumimoji="0" lang="zh-CN" altLang="en-US" b="0" i="0" u="none" strike="noStrike" kern="1200" cap="none" spc="0" normalizeH="0" baseline="0" noProof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	Integer id;</a:t>
            </a:r>
            <a:endParaRPr kumimoji="0" lang="zh-CN" altLang="en-US" b="0" i="0" u="none" strike="noStrike" kern="1200" cap="none" spc="0" normalizeH="0" baseline="0" noProof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	String name;</a:t>
            </a:r>
            <a:endParaRPr kumimoji="0" lang="zh-CN" altLang="en-US" b="0" i="0" u="none" strike="noStrike" kern="1200" cap="none" spc="0" normalizeH="0" baseline="0" noProof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	Double price;</a:t>
            </a:r>
            <a:endParaRPr kumimoji="0" lang="zh-CN" altLang="en-US" b="0" i="0" u="none" strike="noStrike" kern="1200" cap="none" spc="0" normalizeH="0" baseline="0" noProof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   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Integer categoryId;</a:t>
            </a:r>
            <a:endParaRPr kumimoji="0" lang="zh-CN" altLang="en-US" b="0" i="0" u="none" strike="noStrike" kern="1200" cap="none" spc="0" normalizeH="0" baseline="0" noProof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r>
              <a:rPr kumimoji="0" lang="zh-CN" altLang="en-US" b="0" i="0" u="none" strike="noStrike" kern="1200" cap="none" spc="0" normalizeH="0" baseline="0" noProof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	</a:t>
            </a:r>
            <a:r>
              <a:rPr kumimoji="0" lang="zh-CN" altLang="en-US" b="0" i="0" u="none" strike="noStrike" kern="1200" cap="none" spc="0" normalizeH="0" baseline="0" noProof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Category category;</a:t>
            </a:r>
            <a:endParaRPr kumimoji="0" lang="en-US" altLang="zh-CN" b="0" i="0" u="none" strike="noStrike" kern="1200" cap="none" spc="0" normalizeH="0" baseline="0" noProof="1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+mn-cs"/>
              <a:sym typeface="+mn-ea"/>
            </a:endParaRPr>
          </a:p>
          <a:p>
            <a:pPr marL="1371600" marR="0" lvl="3" indent="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+mn-cs"/>
                <a:sym typeface="+mn-ea"/>
              </a:rPr>
              <a:t>}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457200" marR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AutoNum type="arabicPeriod"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矩形 5"/>
          <p:cNvSpPr/>
          <p:nvPr/>
        </p:nvSpPr>
        <p:spPr>
          <a:xfrm>
            <a:off x="611188" y="692150"/>
            <a:ext cx="570230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zh-CN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课堂设计</a:t>
            </a:r>
            <a:r>
              <a:rPr lang="en-US" altLang="zh-CN" sz="2400" b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显示</a:t>
            </a:r>
            <a:r>
              <a:rPr lang="en-US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product</a:t>
            </a:r>
            <a:r>
              <a:rPr lang="zh-CN" altLang="en-US" sz="24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列表及分类</a:t>
            </a: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781050" y="1485265"/>
            <a:ext cx="8060055" cy="5102860"/>
          </a:xfrm>
          <a:ln>
            <a:miter lim="800000"/>
          </a:ln>
        </p:spPr>
        <p:txBody>
          <a:bodyPr vert="horz" wrap="square" lIns="91440" tIns="45720" rIns="91440" bIns="45720" anchor="t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2. 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创建接口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ProductMapper.java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；</a:t>
            </a:r>
            <a:endParaRPr kumimoji="0" lang="zh-CN" altLang="en-US" sz="24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3. </a:t>
            </a:r>
            <a:r>
              <a:rPr kumimoji="0" lang="zh-CN" altLang="en-US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创建</a:t>
            </a:r>
            <a:r>
              <a:rPr kumimoji="0" lang="en-US" altLang="zh-CN" sz="2400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  <a:sym typeface="+mn-ea"/>
              </a:rPr>
              <a:t>P</a:t>
            </a:r>
            <a:r>
              <a:rPr lang="en-US" altLang="zh-CN" sz="2400" kern="1200" dirty="0">
                <a:ea typeface="宋体" panose="02010600030101010101" pitchFamily="2" charset="-122"/>
                <a:sym typeface="+mn-ea"/>
              </a:rPr>
              <a:t>roductMapper.xml</a:t>
            </a: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；</a:t>
            </a:r>
            <a:endParaRPr lang="zh-CN" altLang="en-US" sz="2400" kern="1200" dirty="0">
              <a:ea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r>
              <a:rPr lang="en-US" altLang="zh-CN" sz="2400" kern="1200" dirty="0">
                <a:ea typeface="宋体" panose="02010600030101010101" pitchFamily="2" charset="-122"/>
                <a:sym typeface="+mn-ea"/>
              </a:rPr>
              <a:t>4. </a:t>
            </a: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创建</a:t>
            </a:r>
            <a:r>
              <a:rPr lang="en-US" altLang="zh-CN" sz="2400" kern="1200" dirty="0">
                <a:ea typeface="宋体" panose="02010600030101010101" pitchFamily="2" charset="-122"/>
                <a:sym typeface="+mn-ea"/>
              </a:rPr>
              <a:t>ProductService</a:t>
            </a: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及</a:t>
            </a:r>
            <a:r>
              <a:rPr lang="en-US" altLang="zh-CN" sz="2400" kern="1200" dirty="0">
                <a:ea typeface="宋体" panose="02010600030101010101" pitchFamily="2" charset="-122"/>
                <a:sym typeface="+mn-ea"/>
              </a:rPr>
              <a:t>ProductServiceImpl</a:t>
            </a: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；</a:t>
            </a:r>
            <a:endParaRPr lang="zh-CN" altLang="en-US" sz="2400" kern="1200" dirty="0">
              <a:ea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r>
              <a:rPr lang="en-US" altLang="zh-CN" sz="2400" kern="1200" dirty="0">
                <a:ea typeface="宋体" panose="02010600030101010101" pitchFamily="2" charset="-122"/>
                <a:sym typeface="+mn-ea"/>
              </a:rPr>
              <a:t>5. </a:t>
            </a: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创建</a:t>
            </a:r>
            <a:r>
              <a:rPr lang="en-US" altLang="zh-CN" sz="2400" kern="1200" dirty="0">
                <a:ea typeface="宋体" panose="02010600030101010101" pitchFamily="2" charset="-122"/>
                <a:sym typeface="+mn-ea"/>
              </a:rPr>
              <a:t>ProductController</a:t>
            </a: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；</a:t>
            </a:r>
            <a:endParaRPr lang="zh-CN" altLang="en-US" sz="2400" kern="1200" dirty="0">
              <a:ea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r>
              <a:rPr lang="en-US" altLang="zh-CN" sz="2400" kern="1200" dirty="0">
                <a:ea typeface="宋体" panose="02010600030101010101" pitchFamily="2" charset="-122"/>
                <a:sym typeface="+mn-ea"/>
              </a:rPr>
              <a:t>6. </a:t>
            </a:r>
            <a:r>
              <a:rPr lang="zh-CN" altLang="en-US" sz="2400" kern="1200" dirty="0">
                <a:ea typeface="宋体" panose="02010600030101010101" pitchFamily="2" charset="-122"/>
                <a:sym typeface="+mn-ea"/>
              </a:rPr>
              <a:t>创建</a:t>
            </a:r>
            <a:r>
              <a:rPr lang="en-US" altLang="zh-CN" sz="2400" kern="1200" dirty="0">
                <a:ea typeface="宋体" panose="02010600030101010101" pitchFamily="2" charset="-122"/>
                <a:sym typeface="+mn-ea"/>
              </a:rPr>
              <a:t>product_list.html</a:t>
            </a:r>
            <a:r>
              <a:rPr lang="zh-CN" altLang="en-US" sz="1800" kern="1200" dirty="0">
                <a:ea typeface="宋体" panose="02010600030101010101" pitchFamily="2" charset="-122"/>
                <a:sym typeface="+mn-ea"/>
              </a:rPr>
              <a:t>（学习通下载），补充</a:t>
            </a:r>
            <a:r>
              <a:rPr lang="en-US" altLang="zh-CN" sz="1800" kern="12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&lt;td&gt;</a:t>
            </a:r>
            <a:r>
              <a:rPr lang="zh-CN" altLang="en-US" sz="1800" kern="12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分类</a:t>
            </a:r>
            <a:r>
              <a:rPr lang="en-US" altLang="zh-CN" sz="1800" kern="1200" dirty="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&lt;/td&gt;</a:t>
            </a:r>
            <a:r>
              <a:rPr lang="zh-CN" altLang="en-US" sz="1800" kern="1200" dirty="0">
                <a:ea typeface="宋体" panose="02010600030101010101" pitchFamily="2" charset="-122"/>
                <a:sym typeface="+mn-ea"/>
              </a:rPr>
              <a:t>相关代码。</a:t>
            </a:r>
            <a:endParaRPr lang="zh-CN" altLang="en-US" sz="1800" kern="1200" dirty="0">
              <a:ea typeface="宋体" panose="02010600030101010101" pitchFamily="2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None/>
            </a:pPr>
            <a:endParaRPr kumimoji="0" lang="zh-CN" altLang="en-US" sz="18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7565" y="3644900"/>
            <a:ext cx="794766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514350" y="1449388"/>
            <a:ext cx="8229600" cy="4910138"/>
          </a:xfrm>
          <a:ln>
            <a:miter lim="800000"/>
          </a:ln>
        </p:spPr>
        <p:txBody>
          <a:bodyPr vert="horz" wrap="square" lIns="91440" tIns="45720" rIns="91440" bIns="45720" anchor="t"/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zh-CN" altLang="zh-CN" sz="12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962" name="矩形 5"/>
          <p:cNvSpPr/>
          <p:nvPr/>
        </p:nvSpPr>
        <p:spPr>
          <a:xfrm>
            <a:off x="611188" y="692150"/>
            <a:ext cx="407416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4.3.2 </a:t>
            </a:r>
            <a:r>
              <a:rPr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mybatis</a:t>
            </a:r>
            <a:r>
              <a:rPr lang="zh-CN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多对一</a:t>
            </a:r>
            <a:endParaRPr lang="zh-CN" sz="32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9795" y="1269365"/>
            <a:ext cx="8079740" cy="5415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&lt;</a:t>
            </a:r>
            <a:r>
              <a:rPr lang="zh-CN" altLang="en-US" sz="2400" b="1"/>
              <a:t>resultMap</a:t>
            </a:r>
            <a:r>
              <a:rPr lang="en-US" altLang="zh-CN" sz="2400" b="1"/>
              <a:t>&gt;</a:t>
            </a:r>
            <a:r>
              <a:rPr lang="zh-CN" altLang="en-US" sz="2400" b="1">
                <a:ea typeface="宋体" panose="02010600030101010101" pitchFamily="2" charset="-122"/>
              </a:rPr>
              <a:t>元素</a:t>
            </a:r>
            <a:r>
              <a:rPr lang="en-US" altLang="zh-CN" sz="2400" b="1">
                <a:ea typeface="宋体" panose="02010600030101010101" pitchFamily="2" charset="-122"/>
              </a:rPr>
              <a:t> </a:t>
            </a:r>
            <a:endParaRPr lang="zh-CN" altLang="en-US" sz="2400" b="1">
              <a:ea typeface="宋体" panose="02010600030101010101" pitchFamily="2" charset="-122"/>
            </a:endParaRPr>
          </a:p>
          <a:p>
            <a:r>
              <a:rPr lang="zh-CN" altLang="en-US" sz="2400"/>
              <a:t>作用建立自定义映射关系</a:t>
            </a:r>
            <a:endParaRPr lang="zh-CN" altLang="en-US" sz="2400"/>
          </a:p>
          <a:p>
            <a:r>
              <a:rPr lang="zh-CN" altLang="en-US" sz="2400">
                <a:sym typeface="+mn-ea"/>
              </a:rPr>
              <a:t>id 是唯一性表示，type 设置映射关系中实体类型</a:t>
            </a:r>
            <a:endParaRPr lang="zh-CN" altLang="en-US" sz="2400"/>
          </a:p>
          <a:p>
            <a:r>
              <a:rPr lang="zh-CN" altLang="en-US" sz="2400"/>
              <a:t>其包含主要元素：</a:t>
            </a:r>
            <a:endParaRPr lang="zh-CN" altLang="en-US" sz="2400"/>
          </a:p>
          <a:p>
            <a:r>
              <a:rPr lang="zh-CN" altLang="en-US" sz="2400"/>
              <a:t>1. </a:t>
            </a:r>
            <a:r>
              <a:rPr lang="en-US" altLang="zh-CN" sz="2400"/>
              <a:t>id </a:t>
            </a:r>
            <a:r>
              <a:rPr lang="zh-CN" altLang="en-US" sz="2400">
                <a:ea typeface="宋体" panose="02010600030101010101" pitchFamily="2" charset="-122"/>
              </a:rPr>
              <a:t>表示表中的主键</a:t>
            </a:r>
            <a:endParaRPr lang="zh-CN" altLang="en-US" sz="2400"/>
          </a:p>
          <a:p>
            <a:r>
              <a:rPr lang="zh-CN" altLang="en-US" sz="2400"/>
              <a:t>2. result 属性与列名的对应</a:t>
            </a:r>
            <a:endParaRPr lang="zh-CN" altLang="en-US" sz="2400"/>
          </a:p>
          <a:p>
            <a:r>
              <a:rPr lang="zh-CN" altLang="en-US" sz="2400"/>
              <a:t>3. collection 集合 一对多</a:t>
            </a:r>
            <a:endParaRPr lang="zh-CN" altLang="en-US" sz="2400"/>
          </a:p>
          <a:p>
            <a:r>
              <a:rPr lang="zh-CN" altLang="en-US" sz="2400"/>
              <a:t>4. </a:t>
            </a:r>
            <a:r>
              <a:rPr lang="zh-CN" altLang="en-US" sz="2400">
                <a:solidFill>
                  <a:srgbClr val="FF0000"/>
                </a:solidFill>
              </a:rPr>
              <a:t>association</a:t>
            </a:r>
            <a:r>
              <a:rPr lang="zh-CN" altLang="en-US" sz="2400"/>
              <a:t> 关联 多对一 或一对一</a:t>
            </a:r>
            <a:endParaRPr lang="zh-CN" altLang="en-US" sz="2400"/>
          </a:p>
          <a:p>
            <a:endParaRPr lang="zh-CN" altLang="en-US" sz="2200"/>
          </a:p>
          <a:p>
            <a:r>
              <a:rPr lang="zh-CN" altLang="en-US" sz="2200"/>
              <a:t>（</a:t>
            </a:r>
            <a:r>
              <a:rPr lang="en-US" altLang="zh-CN" sz="2200"/>
              <a:t>1</a:t>
            </a:r>
            <a:r>
              <a:rPr lang="zh-CN" altLang="en-US" sz="2200"/>
              <a:t>）id</a:t>
            </a:r>
            <a:endParaRPr lang="zh-CN" altLang="en-US" sz="2200"/>
          </a:p>
          <a:p>
            <a:r>
              <a:rPr lang="zh-CN" altLang="en-US" sz="2200"/>
              <a:t>映射数据表中主键。</a:t>
            </a:r>
            <a:endParaRPr lang="zh-CN" altLang="en-US" sz="2200"/>
          </a:p>
          <a:p>
            <a:r>
              <a:rPr lang="en-US" altLang="zh-CN" sz="2200">
                <a:sym typeface="+mn-ea"/>
              </a:rPr>
              <a:t>column="</a:t>
            </a:r>
            <a:r>
              <a:rPr lang="zh-CN" altLang="en-US" sz="2200">
                <a:ea typeface="宋体" panose="02010600030101010101" pitchFamily="2" charset="-122"/>
                <a:sym typeface="+mn-ea"/>
              </a:rPr>
              <a:t>列名</a:t>
            </a:r>
            <a:r>
              <a:rPr lang="en-US" altLang="zh-CN" sz="2200">
                <a:sym typeface="+mn-ea"/>
              </a:rPr>
              <a:t>" property="</a:t>
            </a:r>
            <a:r>
              <a:rPr lang="zh-CN" altLang="en-US" sz="2200">
                <a:ea typeface="宋体" panose="02010600030101010101" pitchFamily="2" charset="-122"/>
                <a:sym typeface="+mn-ea"/>
              </a:rPr>
              <a:t>属性名</a:t>
            </a:r>
            <a:r>
              <a:rPr lang="en-US" altLang="zh-CN" sz="2200">
                <a:sym typeface="+mn-ea"/>
              </a:rPr>
              <a:t>"</a:t>
            </a:r>
            <a:endParaRPr lang="zh-CN" altLang="en-US" sz="2200"/>
          </a:p>
          <a:p>
            <a:r>
              <a:rPr lang="zh-CN" altLang="en-US" sz="2200"/>
              <a:t>（</a:t>
            </a:r>
            <a:r>
              <a:rPr lang="en-US" altLang="zh-CN" sz="2200"/>
              <a:t>2</a:t>
            </a:r>
            <a:r>
              <a:rPr lang="zh-CN" altLang="en-US" sz="2200"/>
              <a:t>）result</a:t>
            </a:r>
            <a:endParaRPr lang="zh-CN" altLang="en-US" sz="2200"/>
          </a:p>
          <a:p>
            <a:r>
              <a:rPr lang="zh-CN" altLang="en-US" sz="2200"/>
              <a:t>正常映射到pojo类的一个属性。</a:t>
            </a:r>
            <a:r>
              <a:rPr lang="en-US" altLang="zh-CN" sz="2200"/>
              <a:t> </a:t>
            </a:r>
            <a:endParaRPr lang="en-US" altLang="zh-CN" sz="2200"/>
          </a:p>
          <a:p>
            <a:r>
              <a:rPr lang="en-US" altLang="zh-CN" sz="2200"/>
              <a:t>column="</a:t>
            </a:r>
            <a:r>
              <a:rPr lang="zh-CN" altLang="en-US" sz="2200">
                <a:ea typeface="宋体" panose="02010600030101010101" pitchFamily="2" charset="-122"/>
              </a:rPr>
              <a:t>列名</a:t>
            </a:r>
            <a:r>
              <a:rPr lang="en-US" altLang="zh-CN" sz="2200"/>
              <a:t>" property="</a:t>
            </a:r>
            <a:r>
              <a:rPr lang="zh-CN" altLang="en-US" sz="2200">
                <a:ea typeface="宋体" panose="02010600030101010101" pitchFamily="2" charset="-122"/>
              </a:rPr>
              <a:t>属性名</a:t>
            </a:r>
            <a:r>
              <a:rPr lang="en-US" altLang="zh-CN" sz="2200"/>
              <a:t>"</a:t>
            </a:r>
            <a:endParaRPr lang="en-US" altLang="zh-CN" sz="2200"/>
          </a:p>
        </p:txBody>
      </p:sp>
      <p:sp>
        <p:nvSpPr>
          <p:cNvPr id="3" name="五角星 2"/>
          <p:cNvSpPr/>
          <p:nvPr/>
        </p:nvSpPr>
        <p:spPr>
          <a:xfrm>
            <a:off x="5076190" y="765175"/>
            <a:ext cx="423545" cy="360045"/>
          </a:xfrm>
          <a:prstGeom prst="star5">
            <a:avLst/>
          </a:prstGeom>
          <a:gradFill rotWithShape="0">
            <a:gsLst>
              <a:gs pos="50000">
                <a:srgbClr val="ED8D72"/>
              </a:gs>
              <a:gs pos="0">
                <a:srgbClr val="F3B3A1"/>
              </a:gs>
              <a:gs pos="100000">
                <a:srgbClr val="E66643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xfrm>
            <a:off x="514350" y="1449388"/>
            <a:ext cx="8229600" cy="4910138"/>
          </a:xfrm>
          <a:ln>
            <a:miter lim="800000"/>
          </a:ln>
        </p:spPr>
        <p:txBody>
          <a:bodyPr vert="horz" wrap="square" lIns="91440" tIns="45720" rIns="91440" bIns="45720" anchor="t"/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b="0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rPr>
              <a:t> </a:t>
            </a:r>
            <a:endParaRPr kumimoji="0" lang="zh-CN" altLang="en-US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宋体" panose="02010600030101010101" pitchFamily="2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Wingdings" panose="05000000000000000000" pitchFamily="2" charset="2"/>
              <a:buNone/>
            </a:pPr>
            <a:endParaRPr kumimoji="0" lang="zh-CN" altLang="zh-CN" sz="1200" b="0" i="0" u="none" strike="noStrike" kern="120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962" name="矩形 5"/>
          <p:cNvSpPr/>
          <p:nvPr/>
        </p:nvSpPr>
        <p:spPr>
          <a:xfrm>
            <a:off x="611188" y="692150"/>
            <a:ext cx="407416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4.3.2 </a:t>
            </a:r>
            <a:r>
              <a:rPr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mybatis</a:t>
            </a:r>
            <a:r>
              <a:rPr lang="zh-CN" sz="32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多对一</a:t>
            </a:r>
            <a:endParaRPr lang="zh-CN" sz="32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99795" y="1412875"/>
            <a:ext cx="8079740" cy="30435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400"/>
              <a:t>（</a:t>
            </a:r>
            <a:r>
              <a:rPr lang="en-US" altLang="zh-CN" sz="2400"/>
              <a:t>3</a:t>
            </a:r>
            <a:r>
              <a:rPr lang="zh-CN" altLang="en-US" sz="2400"/>
              <a:t>）collection：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zh-CN" altLang="en-US" sz="2400"/>
              <a:t>将关联查询信息映射到一个list集合中。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zh-CN" altLang="en-US" sz="2400"/>
              <a:t>（</a:t>
            </a:r>
            <a:r>
              <a:rPr lang="en-US" altLang="zh-CN" sz="2400"/>
              <a:t>4</a:t>
            </a:r>
            <a:r>
              <a:rPr lang="zh-CN" altLang="en-US" sz="2400"/>
              <a:t>）association：</a:t>
            </a:r>
            <a:endParaRPr lang="zh-CN" altLang="en-US" sz="2400"/>
          </a:p>
          <a:p>
            <a:pPr>
              <a:lnSpc>
                <a:spcPct val="130000"/>
              </a:lnSpc>
            </a:pPr>
            <a:r>
              <a:rPr lang="zh-CN" altLang="en-US" sz="2400"/>
              <a:t>将关联查询信息映射到一个pojo对象中。也就是当</a:t>
            </a:r>
            <a:r>
              <a:rPr lang="en-US" altLang="zh-CN" sz="2400"/>
              <a:t>pojo</a:t>
            </a:r>
            <a:r>
              <a:rPr lang="zh-CN" altLang="en-US" sz="2400">
                <a:ea typeface="宋体" panose="02010600030101010101" pitchFamily="2" charset="-122"/>
              </a:rPr>
              <a:t>对象的属性又是另一个</a:t>
            </a:r>
            <a:r>
              <a:rPr lang="en-US" altLang="zh-CN" sz="2400">
                <a:ea typeface="宋体" panose="02010600030101010101" pitchFamily="2" charset="-122"/>
              </a:rPr>
              <a:t>pojo</a:t>
            </a:r>
            <a:r>
              <a:rPr lang="zh-CN" altLang="en-US" sz="2400">
                <a:ea typeface="宋体" panose="02010600030101010101" pitchFamily="2" charset="-122"/>
              </a:rPr>
              <a:t>对象。</a:t>
            </a:r>
            <a:endParaRPr lang="zh-CN" altLang="en-US" sz="2400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99360" y="3933190"/>
            <a:ext cx="4145915" cy="24949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12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2857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4034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30" name="Picture 31" descr="C:\Users\admin\Desktop\201777-12062Q1302417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2736850"/>
            <a:ext cx="3677285" cy="2204085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036" name="TextBox 24"/>
          <p:cNvSpPr txBox="1"/>
          <p:nvPr/>
        </p:nvSpPr>
        <p:spPr>
          <a:xfrm>
            <a:off x="1643063" y="3635058"/>
            <a:ext cx="20510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1">
            <a:spAutoFit/>
          </a:bodyPr>
          <a:p>
            <a:r>
              <a:rPr lang="zh-CN" altLang="en-US" sz="3600" b="1" dirty="0">
                <a:solidFill>
                  <a:srgbClr val="51DAFF"/>
                </a:solidFill>
                <a:latin typeface="微软雅黑" panose="020B0503020204020204" charset="-122"/>
                <a:ea typeface="微软雅黑" panose="020B0503020204020204" charset="-122"/>
              </a:rPr>
              <a:t>上机作业</a:t>
            </a:r>
            <a:endParaRPr lang="zh-CN" altLang="en-US" sz="3600" b="1" dirty="0">
              <a:solidFill>
                <a:srgbClr val="51DA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剪去对角的矩形 3"/>
          <p:cNvSpPr/>
          <p:nvPr/>
        </p:nvSpPr>
        <p:spPr bwMode="auto">
          <a:xfrm>
            <a:off x="4113213" y="1619250"/>
            <a:ext cx="1744663" cy="550863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rgbClr val="009ED6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mybatis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44038" name="直线连接符 9"/>
          <p:cNvCxnSpPr/>
          <p:nvPr/>
        </p:nvCxnSpPr>
        <p:spPr>
          <a:xfrm>
            <a:off x="4462463" y="2316163"/>
            <a:ext cx="3532187" cy="0"/>
          </a:xfrm>
          <a:prstGeom prst="line">
            <a:avLst/>
          </a:prstGeom>
          <a:ln w="28575" cap="flat" cmpd="sng">
            <a:solidFill>
              <a:srgbClr val="00ACE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039" name="矩形 35"/>
          <p:cNvSpPr/>
          <p:nvPr/>
        </p:nvSpPr>
        <p:spPr>
          <a:xfrm>
            <a:off x="4075430" y="2399030"/>
            <a:ext cx="473392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</a:t>
            </a: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分类</a:t>
            </a: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下拉菜单，显示所有的分类。</a:t>
            </a:r>
            <a:endParaRPr lang="zh-CN" altLang="en-US" sz="2400" b="1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4040" name="矩形 5"/>
          <p:cNvSpPr/>
          <p:nvPr/>
        </p:nvSpPr>
        <p:spPr>
          <a:xfrm>
            <a:off x="611188" y="692150"/>
            <a:ext cx="446913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zh-CN" altLang="en-US" sz="32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上机作业</a:t>
            </a:r>
            <a:r>
              <a:rPr lang="en-US" altLang="zh-CN" sz="2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——</a:t>
            </a:r>
            <a:r>
              <a:rPr lang="zh-CN" sz="2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实现分类显示</a:t>
            </a:r>
            <a:endParaRPr lang="zh-CN" sz="2600" b="1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" name="矩形 35"/>
          <p:cNvSpPr/>
          <p:nvPr>
            <p:custDataLst>
              <p:tags r:id="rId2"/>
            </p:custDataLst>
          </p:nvPr>
        </p:nvSpPr>
        <p:spPr>
          <a:xfrm>
            <a:off x="4140200" y="3573145"/>
            <a:ext cx="473392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点击某个分类菜单，显示该分类的所有产品。</a:t>
            </a:r>
            <a:endParaRPr lang="zh-CN" altLang="en-US" sz="2400" b="1" dirty="0">
              <a:solidFill>
                <a:srgbClr val="00B0F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矩形 35"/>
          <p:cNvSpPr/>
          <p:nvPr/>
        </p:nvSpPr>
        <p:spPr>
          <a:xfrm>
            <a:off x="4075430" y="5517515"/>
            <a:ext cx="473392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r">
              <a:lnSpc>
                <a:spcPct val="150000"/>
              </a:lnSpc>
            </a:pPr>
            <a:r>
              <a:rPr lang="zh-CN" sz="1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学习通下载上机指导书</a:t>
            </a:r>
            <a:endParaRPr lang="zh-CN" sz="1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WordArt 2"/>
          <p:cNvSpPr/>
          <p:nvPr/>
        </p:nvSpPr>
        <p:spPr>
          <a:xfrm>
            <a:off x="1908175" y="4005263"/>
            <a:ext cx="5702300" cy="1728787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26227"/>
              </a:avLst>
            </a:prstTxWarp>
            <a:normAutofit/>
          </a:bodyPr>
          <a:p>
            <a:pPr algn="ctr"/>
            <a:r>
              <a:rPr lang="zh-CN" altLang="en-US" sz="5400" b="1"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 rotWithShape="1">
                  <a:gsLst>
                    <a:gs pos="0">
                      <a:schemeClr val="hlink"/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effectLst>
                  <a:outerShdw dist="107763" dir="2699999" algn="ctr" rotWithShape="0">
                    <a:srgbClr val="000000">
                      <a:alpha val="50000"/>
                    </a:srgbClr>
                  </a:outerShdw>
                </a:effectLst>
                <a:latin typeface="+mn-ea"/>
                <a:ea typeface="+mn-ea"/>
              </a:rPr>
              <a:t>谢谢大家！</a:t>
            </a:r>
            <a:endParaRPr lang="zh-CN" altLang="en-US" sz="5400" b="1"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gradFill rotWithShape="1">
                <a:gsLst>
                  <a:gs pos="0">
                    <a:schemeClr val="hlink"/>
                  </a:gs>
                  <a:gs pos="100000">
                    <a:schemeClr val="accent1"/>
                  </a:gs>
                </a:gsLst>
                <a:lin ang="5400000" scaled="1"/>
                <a:tileRect/>
              </a:gradFill>
              <a:effectLst>
                <a:outerShdw dist="107763" dir="2699999" algn="ctr" rotWithShape="0">
                  <a:srgbClr val="000000">
                    <a:alpha val="50000"/>
                  </a:srgbClr>
                </a:outerShdw>
              </a:effectLst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  <p:tag name="KSO_WM_UNIT_PLACING_PICTURE_USER_VIEWPORT" val="{&quot;height&quot;:9072,&quot;width&quot;:19356}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  <p:tag name="KSO_WM_UNIT_PLACING_PICTURE_USER_VIEWPORT" val="{&quot;height&quot;:4464,&quot;width&quot;:12516}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PP_MARK_KEY" val="403a99fe-9ce9-488e-9451-3d3295f0b66f"/>
  <p:tag name="COMMONDATA" val="eyJoZGlkIjoiNTEwYTJmZjY0ZmMwYTM5ZmI4MDA3NTA4MTA1ODViM2YifQ=="/>
</p:tagLst>
</file>

<file path=ppt/theme/theme1.xml><?xml version="1.0" encoding="utf-8"?>
<a:theme xmlns:a="http://schemas.openxmlformats.org/drawingml/2006/main" name="商务型PPT模板">
  <a:themeElements>
    <a:clrScheme name="商务型PPT模板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商务型PPT模板">
      <a:majorFont>
        <a:latin typeface="宋体"/>
        <a:ea typeface="宋体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商务型PPT模板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商务型PPT模板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商务型PPT模板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商务型PPT模板">
  <a:themeElements>
    <a:clrScheme name="商务型PPT模板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商务型PPT模板">
      <a:majorFont>
        <a:latin typeface="宋体"/>
        <a:ea typeface="宋体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商务型PPT模板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商务型PPT模板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商务型PPT模板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商务型PPT模板">
  <a:themeElements>
    <a:clrScheme name="商务型PPT模板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商务型PPT模板">
      <a:majorFont>
        <a:latin typeface="宋体"/>
        <a:ea typeface="宋体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商务型PPT模板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商务型PPT模板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商务型PPT模板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商务型PPT模板">
  <a:themeElements>
    <a:clrScheme name="商务型PPT模板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商务型PPT模板">
      <a:majorFont>
        <a:latin typeface="宋体"/>
        <a:ea typeface="宋体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商务型PPT模板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商务型PPT模板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商务型PPT模板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商务型PPT模板">
  <a:themeElements>
    <a:clrScheme name="商务型PPT模板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商务型PPT模板">
      <a:majorFont>
        <a:latin typeface="宋体"/>
        <a:ea typeface="宋体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商务型PPT模板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商务型PPT模板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商务型PPT模板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计算机学院课件模板</Template>
  <TotalTime>0</TotalTime>
  <Words>4924</Words>
  <Application>WPS 演示</Application>
  <PresentationFormat>全屏显示(4:3)</PresentationFormat>
  <Paragraphs>334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32</vt:i4>
      </vt:variant>
    </vt:vector>
  </HeadingPairs>
  <TitlesOfParts>
    <vt:vector size="47" baseType="lpstr">
      <vt:lpstr>Arial</vt:lpstr>
      <vt:lpstr>宋体</vt:lpstr>
      <vt:lpstr>Wingdings</vt:lpstr>
      <vt:lpstr>Verdana</vt:lpstr>
      <vt:lpstr>Times New Roman</vt:lpstr>
      <vt:lpstr>隶书</vt:lpstr>
      <vt:lpstr>微软雅黑</vt:lpstr>
      <vt:lpstr>华文楷体</vt:lpstr>
      <vt:lpstr>Arial Unicode MS</vt:lpstr>
      <vt:lpstr>楷体</vt:lpstr>
      <vt:lpstr>商务型PPT模板</vt:lpstr>
      <vt:lpstr>1_商务型PPT模板</vt:lpstr>
      <vt:lpstr>2_商务型PPT模板</vt:lpstr>
      <vt:lpstr>3_商务型PPT模板</vt:lpstr>
      <vt:lpstr>6_商务型PPT模板</vt:lpstr>
      <vt:lpstr>JAVAEE开发框架</vt:lpstr>
      <vt:lpstr>章节目标</vt:lpstr>
      <vt:lpstr>PowerPoint 演示文稿</vt:lpstr>
      <vt:lpstr>PowerPoint 演示文稿</vt:lpstr>
      <vt:lpstr>PowerPoint 演示文稿</vt:lpstr>
      <vt:lpstr>PowerPoint 演示文稿</vt:lpstr>
      <vt:lpstr>Maven</vt:lpstr>
      <vt:lpstr>POM.xml</vt:lpstr>
      <vt:lpstr>Maven安装与集成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计信工程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2 3 TECHNO</dc:title>
  <dc:creator>新乡学院</dc:creator>
  <cp:lastModifiedBy>MRHU1408197538</cp:lastModifiedBy>
  <cp:revision>598</cp:revision>
  <dcterms:created xsi:type="dcterms:W3CDTF">2011-10-10T08:44:00Z</dcterms:created>
  <dcterms:modified xsi:type="dcterms:W3CDTF">2026-04-15T11:19:28Z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CD4EB2EF848343C7BF713C20F5360961_13</vt:lpwstr>
  </property>
</Properties>
</file>